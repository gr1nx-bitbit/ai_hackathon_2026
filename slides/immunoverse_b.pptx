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Lato"/>
      <p:regular r:id="rId16"/>
      <p:bold r:id="rId17"/>
      <p:italic r:id="rId18"/>
      <p:boldItalic r:id="rId19"/>
    </p:embeddedFont>
    <p:embeddedFont>
      <p:font typeface="Poppins"/>
      <p:regular r:id="rId20"/>
      <p:bold r:id="rId21"/>
      <p:italic r:id="rId22"/>
      <p:boldItalic r:id="rId23"/>
    </p:embeddedFont>
    <p:embeddedFont>
      <p:font typeface="Poppins SemiBold"/>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SemiBold-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SemiBold-italic.fntdata"/><Relationship Id="rId25" Type="http://schemas.openxmlformats.org/officeDocument/2006/relationships/font" Target="fonts/PoppinsSemiBold-bold.fntdata"/><Relationship Id="rId27" Type="http://schemas.openxmlformats.org/officeDocument/2006/relationships/font" Target="fonts/Poppi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ato-bold.fntdata"/><Relationship Id="rId16" Type="http://schemas.openxmlformats.org/officeDocument/2006/relationships/font" Target="fonts/Lato-regular.fntdata"/><Relationship Id="rId19" Type="http://schemas.openxmlformats.org/officeDocument/2006/relationships/font" Target="fonts/Lato-boldItalic.fntdata"/><Relationship Id="rId18" Type="http://schemas.openxmlformats.org/officeDocument/2006/relationships/font" Target="fonts/La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Get rid of the words. Existing systems take your genes and make proteins in isolation. 90% of edits that work in the tube fail when it interacts with the immune system or at a cellular level</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repeats first slide now - get rid of this slide - current process is very expensive and slow</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simplify - write </a:t>
            </a:r>
            <a:r>
              <a:rPr lang="en-US"/>
              <a:t>function</a:t>
            </a:r>
            <a:r>
              <a:rPr lang="en-US"/>
              <a:t> of each agent</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png"/><Relationship Id="rId10" Type="http://schemas.openxmlformats.org/officeDocument/2006/relationships/image" Target="../media/image8.png"/><Relationship Id="rId9"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5.png"/><Relationship Id="rId10" Type="http://schemas.openxmlformats.org/officeDocument/2006/relationships/image" Target="../media/image18.png"/><Relationship Id="rId9" Type="http://schemas.openxmlformats.org/officeDocument/2006/relationships/image" Target="../media/image20.png"/><Relationship Id="rId5" Type="http://schemas.openxmlformats.org/officeDocument/2006/relationships/image" Target="../media/image6.png"/><Relationship Id="rId6" Type="http://schemas.openxmlformats.org/officeDocument/2006/relationships/image" Target="../media/image30.png"/><Relationship Id="rId7" Type="http://schemas.openxmlformats.org/officeDocument/2006/relationships/image" Target="../media/image9.png"/><Relationship Id="rId8"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9.png"/><Relationship Id="rId6" Type="http://schemas.openxmlformats.org/officeDocument/2006/relationships/image" Target="../media/image31.pn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9.png"/><Relationship Id="rId7" Type="http://schemas.openxmlformats.org/officeDocument/2006/relationships/image" Target="../media/image26.png"/><Relationship Id="rId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9.png"/><Relationship Id="rId7" Type="http://schemas.openxmlformats.org/officeDocument/2006/relationships/image" Target="../media/image17.png"/><Relationship Id="rId8"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29.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D1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666750" y="6105525"/>
            <a:ext cx="10858500" cy="27622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666750" y="476250"/>
            <a:ext cx="2181225" cy="238125"/>
          </a:xfrm>
          <a:prstGeom prst="rect">
            <a:avLst/>
          </a:prstGeom>
          <a:noFill/>
          <a:ln>
            <a:noFill/>
          </a:ln>
        </p:spPr>
      </p:pic>
      <p:sp>
        <p:nvSpPr>
          <p:cNvPr id="87" name="Google Shape;87;p13"/>
          <p:cNvSpPr txBox="1"/>
          <p:nvPr/>
        </p:nvSpPr>
        <p:spPr>
          <a:xfrm>
            <a:off x="666750" y="6257925"/>
            <a:ext cx="140017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3B82F6"/>
                </a:solidFill>
                <a:latin typeface="Lato"/>
                <a:ea typeface="Lato"/>
                <a:cs typeface="Lato"/>
                <a:sym typeface="Lato"/>
              </a:rPr>
              <a:t>FETCH AI &amp; LANGGRAPH</a:t>
            </a:r>
            <a:endParaRPr/>
          </a:p>
        </p:txBody>
      </p:sp>
      <p:sp>
        <p:nvSpPr>
          <p:cNvPr id="88" name="Google Shape;88;p13"/>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1 OF 8</a:t>
            </a:r>
            <a:endParaRPr/>
          </a:p>
        </p:txBody>
      </p:sp>
      <p:sp>
        <p:nvSpPr>
          <p:cNvPr id="89" name="Google Shape;89;p13"/>
          <p:cNvSpPr txBox="1"/>
          <p:nvPr/>
        </p:nvSpPr>
        <p:spPr>
          <a:xfrm>
            <a:off x="666750" y="2645122"/>
            <a:ext cx="9501187" cy="1139130"/>
          </a:xfrm>
          <a:prstGeom prst="rect">
            <a:avLst/>
          </a:prstGeom>
          <a:noFill/>
          <a:ln>
            <a:noFill/>
          </a:ln>
        </p:spPr>
        <p:txBody>
          <a:bodyPr anchorCtr="0" anchor="t" bIns="0" lIns="0" spcFirstLastPara="1" rIns="0" wrap="square" tIns="0">
            <a:spAutoFit/>
          </a:bodyPr>
          <a:lstStyle/>
          <a:p>
            <a:pPr indent="0" lvl="0" marL="0" marR="0" rtl="0" algn="l">
              <a:lnSpc>
                <a:spcPct val="114974"/>
              </a:lnSpc>
              <a:spcBef>
                <a:spcPts val="0"/>
              </a:spcBef>
              <a:spcAft>
                <a:spcPts val="0"/>
              </a:spcAft>
              <a:buNone/>
            </a:pPr>
            <a:r>
              <a:rPr b="1" i="0" lang="en-US" sz="3900" u="none" cap="none" strike="noStrike">
                <a:solidFill>
                  <a:srgbClr val="F8FAFC"/>
                </a:solidFill>
                <a:latin typeface="Poppins"/>
                <a:ea typeface="Poppins"/>
                <a:cs typeface="Poppins"/>
                <a:sym typeface="Poppins"/>
              </a:rPr>
              <a:t>Multiscale In Silico</a:t>
            </a:r>
            <a:br>
              <a:rPr b="0" i="0" lang="en-US" sz="1800" u="none" cap="none" strike="noStrike">
                <a:solidFill>
                  <a:schemeClr val="dk1"/>
                </a:solidFill>
                <a:latin typeface="Calibri"/>
                <a:ea typeface="Calibri"/>
                <a:cs typeface="Calibri"/>
                <a:sym typeface="Calibri"/>
              </a:rPr>
            </a:br>
            <a:r>
              <a:rPr b="1" i="0" lang="en-US" sz="3900" u="none" cap="none" strike="noStrike">
                <a:solidFill>
                  <a:srgbClr val="F8FAFC"/>
                </a:solidFill>
                <a:latin typeface="Poppins"/>
                <a:ea typeface="Poppins"/>
                <a:cs typeface="Poppins"/>
                <a:sym typeface="Poppins"/>
              </a:rPr>
              <a:t>Immunogenicity Pipeline</a:t>
            </a:r>
            <a:endParaRPr/>
          </a:p>
        </p:txBody>
      </p:sp>
      <p:sp>
        <p:nvSpPr>
          <p:cNvPr id="90" name="Google Shape;90;p13"/>
          <p:cNvSpPr txBox="1"/>
          <p:nvPr/>
        </p:nvSpPr>
        <p:spPr>
          <a:xfrm>
            <a:off x="666750" y="3974752"/>
            <a:ext cx="8096250" cy="53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94A3B8"/>
                </a:solidFill>
                <a:latin typeface="Lato"/>
                <a:ea typeface="Lato"/>
                <a:cs typeface="Lato"/>
                <a:sym typeface="Lato"/>
              </a:rPr>
              <a:t>An autonomous, patient-specific safety screening network for gene therapies—collapsing the timeline to identify clinical failures from months to seconds.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pic>
        <p:nvPicPr>
          <p:cNvPr descr="image.png" id="95" name="Google Shape;95;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 name="Google Shape;96;p14"/>
          <p:cNvPicPr preferRelativeResize="0"/>
          <p:nvPr/>
        </p:nvPicPr>
        <p:blipFill rotWithShape="1">
          <a:blip r:embed="rId4">
            <a:alphaModFix/>
          </a:blip>
          <a:srcRect b="0" l="0" r="0" t="0"/>
          <a:stretch/>
        </p:blipFill>
        <p:spPr>
          <a:xfrm>
            <a:off x="666750" y="2752725"/>
            <a:ext cx="4325838" cy="1895475"/>
          </a:xfrm>
          <a:prstGeom prst="rect">
            <a:avLst/>
          </a:prstGeom>
          <a:noFill/>
          <a:ln>
            <a:noFill/>
          </a:ln>
        </p:spPr>
      </p:pic>
      <p:pic>
        <p:nvPicPr>
          <p:cNvPr descr="image.png" id="97" name="Google Shape;97;p14"/>
          <p:cNvPicPr preferRelativeResize="0"/>
          <p:nvPr/>
        </p:nvPicPr>
        <p:blipFill rotWithShape="1">
          <a:blip r:embed="rId5">
            <a:alphaModFix/>
          </a:blip>
          <a:srcRect b="0" l="0" r="0" t="0"/>
          <a:stretch/>
        </p:blipFill>
        <p:spPr>
          <a:xfrm>
            <a:off x="5468838" y="4398764"/>
            <a:ext cx="6056411" cy="451246"/>
          </a:xfrm>
          <a:prstGeom prst="rect">
            <a:avLst/>
          </a:prstGeom>
          <a:noFill/>
          <a:ln>
            <a:noFill/>
          </a:ln>
        </p:spPr>
      </p:pic>
      <p:pic>
        <p:nvPicPr>
          <p:cNvPr descr="image.png" id="98" name="Google Shape;98;p14"/>
          <p:cNvPicPr preferRelativeResize="0"/>
          <p:nvPr/>
        </p:nvPicPr>
        <p:blipFill rotWithShape="1">
          <a:blip r:embed="rId6">
            <a:alphaModFix/>
          </a:blip>
          <a:srcRect b="0" l="0" r="0" t="0"/>
          <a:stretch/>
        </p:blipFill>
        <p:spPr>
          <a:xfrm>
            <a:off x="666750" y="6105525"/>
            <a:ext cx="10858500" cy="276225"/>
          </a:xfrm>
          <a:prstGeom prst="rect">
            <a:avLst/>
          </a:prstGeom>
          <a:noFill/>
          <a:ln>
            <a:noFill/>
          </a:ln>
        </p:spPr>
      </p:pic>
      <p:sp>
        <p:nvSpPr>
          <p:cNvPr id="99" name="Google Shape;99;p14"/>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The Late-Stage Rejection Bottleneck</a:t>
            </a:r>
            <a:endParaRPr/>
          </a:p>
        </p:txBody>
      </p:sp>
      <p:sp>
        <p:nvSpPr>
          <p:cNvPr id="100" name="Google Shape;100;p14"/>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14"/>
          <p:cNvSpPr txBox="1"/>
          <p:nvPr/>
        </p:nvSpPr>
        <p:spPr>
          <a:xfrm>
            <a:off x="666750" y="6257925"/>
            <a:ext cx="179070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IMMUNOLOGICAL BLINDSPOTS</a:t>
            </a:r>
            <a:endParaRPr/>
          </a:p>
        </p:txBody>
      </p:sp>
      <p:sp>
        <p:nvSpPr>
          <p:cNvPr id="102" name="Google Shape;102;p14"/>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2 OF 8</a:t>
            </a:r>
            <a:endParaRPr/>
          </a:p>
        </p:txBody>
      </p:sp>
      <p:sp>
        <p:nvSpPr>
          <p:cNvPr id="103" name="Google Shape;103;p14"/>
          <p:cNvSpPr txBox="1"/>
          <p:nvPr/>
        </p:nvSpPr>
        <p:spPr>
          <a:xfrm>
            <a:off x="962025" y="3143250"/>
            <a:ext cx="3735288" cy="85725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6750" u="none" cap="none" strike="noStrike">
                <a:solidFill>
                  <a:srgbClr val="10B981"/>
                </a:solidFill>
                <a:latin typeface="Poppins"/>
                <a:ea typeface="Poppins"/>
                <a:cs typeface="Poppins"/>
                <a:sym typeface="Poppins"/>
              </a:rPr>
              <a:t>90%+</a:t>
            </a:r>
            <a:endParaRPr/>
          </a:p>
        </p:txBody>
      </p:sp>
      <p:sp>
        <p:nvSpPr>
          <p:cNvPr id="104" name="Google Shape;104;p14"/>
          <p:cNvSpPr txBox="1"/>
          <p:nvPr/>
        </p:nvSpPr>
        <p:spPr>
          <a:xfrm>
            <a:off x="962025" y="4076700"/>
            <a:ext cx="3735288" cy="1809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94A3B8"/>
                </a:solidFill>
                <a:latin typeface="Lato"/>
                <a:ea typeface="Lato"/>
                <a:cs typeface="Lato"/>
                <a:sym typeface="Lato"/>
              </a:rPr>
              <a:t>CLINICAL FAILURE RATE</a:t>
            </a:r>
            <a:endParaRPr/>
          </a:p>
        </p:txBody>
      </p:sp>
      <p:sp>
        <p:nvSpPr>
          <p:cNvPr id="105" name="Google Shape;105;p14"/>
          <p:cNvSpPr txBox="1"/>
          <p:nvPr/>
        </p:nvSpPr>
        <p:spPr>
          <a:xfrm>
            <a:off x="5468838" y="2550914"/>
            <a:ext cx="6359232"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E293B"/>
                </a:solidFill>
                <a:latin typeface="Poppins"/>
                <a:ea typeface="Poppins"/>
                <a:cs typeface="Poppins"/>
                <a:sym typeface="Poppins"/>
              </a:rPr>
              <a:t>Timeline &amp; Species Mismatch Cause Catastrophes</a:t>
            </a:r>
            <a:endParaRPr/>
          </a:p>
        </p:txBody>
      </p:sp>
      <p:sp>
        <p:nvSpPr>
          <p:cNvPr id="106" name="Google Shape;106;p14"/>
          <p:cNvSpPr txBox="1"/>
          <p:nvPr/>
        </p:nvSpPr>
        <p:spPr>
          <a:xfrm>
            <a:off x="5735538" y="2912864"/>
            <a:ext cx="5789700" cy="600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125" u="none" cap="none" strike="noStrike">
                <a:solidFill>
                  <a:srgbClr val="475569"/>
                </a:solidFill>
                <a:latin typeface="Lato"/>
                <a:ea typeface="Lato"/>
                <a:cs typeface="Lato"/>
                <a:sym typeface="Lato"/>
              </a:rPr>
              <a:t>The Timeline Mismatch:</a:t>
            </a:r>
            <a:r>
              <a:rPr b="0" i="0" lang="en-US" sz="1125" u="none" cap="none" strike="noStrike">
                <a:solidFill>
                  <a:srgbClr val="475569"/>
                </a:solidFill>
                <a:latin typeface="Lato"/>
                <a:ea typeface="Lato"/>
                <a:cs typeface="Lato"/>
                <a:sym typeface="Lato"/>
              </a:rPr>
              <a:t> Wet labs express edited protein sequences in vitro within 24-48 hours. However, the human adaptive immune system (HLA peptide presentation, T-cell clonal expansion) takes </a:t>
            </a:r>
            <a:r>
              <a:rPr b="1" i="0" lang="en-US" sz="1125" u="none" cap="none" strike="noStrike">
                <a:solidFill>
                  <a:srgbClr val="475569"/>
                </a:solidFill>
                <a:latin typeface="Lato"/>
                <a:ea typeface="Lato"/>
                <a:cs typeface="Lato"/>
                <a:sym typeface="Lato"/>
              </a:rPr>
              <a:t>weeks to months</a:t>
            </a:r>
            <a:r>
              <a:rPr b="0" i="0" lang="en-US" sz="1125" u="none" cap="none" strike="noStrike">
                <a:solidFill>
                  <a:srgbClr val="475569"/>
                </a:solidFill>
                <a:latin typeface="Lato"/>
                <a:ea typeface="Lato"/>
                <a:cs typeface="Lato"/>
                <a:sym typeface="Lato"/>
              </a:rPr>
              <a:t> to react.</a:t>
            </a:r>
            <a:endParaRPr/>
          </a:p>
        </p:txBody>
      </p:sp>
      <p:sp>
        <p:nvSpPr>
          <p:cNvPr id="107" name="Google Shape;107;p14"/>
          <p:cNvSpPr txBox="1"/>
          <p:nvPr/>
        </p:nvSpPr>
        <p:spPr>
          <a:xfrm>
            <a:off x="5735538" y="3655814"/>
            <a:ext cx="5789700" cy="600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125" u="none" cap="none" strike="noStrike">
                <a:solidFill>
                  <a:srgbClr val="475569"/>
                </a:solidFill>
                <a:latin typeface="Lato"/>
                <a:ea typeface="Lato"/>
                <a:cs typeface="Lato"/>
                <a:sym typeface="Lato"/>
              </a:rPr>
              <a:t>The Species Blindspot:</a:t>
            </a:r>
            <a:r>
              <a:rPr b="0" i="0" lang="en-US" sz="1125" u="none" cap="none" strike="noStrike">
                <a:solidFill>
                  <a:srgbClr val="475569"/>
                </a:solidFill>
                <a:latin typeface="Lato"/>
                <a:ea typeface="Lato"/>
                <a:cs typeface="Lato"/>
                <a:sym typeface="Lato"/>
              </a:rPr>
              <a:t> Standard pre-clinical screening relies heavily on mice. But mice have entirely different histocompatibility profiles (MHC) than humans, completely missing human-specific immunogenicity.</a:t>
            </a:r>
            <a:endParaRPr/>
          </a:p>
        </p:txBody>
      </p:sp>
      <p:sp>
        <p:nvSpPr>
          <p:cNvPr id="108" name="Google Shape;108;p14"/>
          <p:cNvSpPr txBox="1"/>
          <p:nvPr/>
        </p:nvSpPr>
        <p:spPr>
          <a:xfrm>
            <a:off x="5468838" y="4513064"/>
            <a:ext cx="1123950" cy="1524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1" i="1" lang="en-US" sz="975" u="none" cap="none" strike="noStrike">
                <a:solidFill>
                  <a:srgbClr val="64748B"/>
                </a:solidFill>
                <a:latin typeface="Lato"/>
                <a:ea typeface="Lato"/>
                <a:cs typeface="Lato"/>
                <a:sym typeface="Lato"/>
              </a:rPr>
              <a:t>Sun, D. et al. (2022).</a:t>
            </a:r>
            <a:endParaRPr/>
          </a:p>
        </p:txBody>
      </p:sp>
      <p:sp>
        <p:nvSpPr>
          <p:cNvPr id="109" name="Google Shape;109;p14"/>
          <p:cNvSpPr txBox="1"/>
          <p:nvPr/>
        </p:nvSpPr>
        <p:spPr>
          <a:xfrm>
            <a:off x="6621363" y="4513064"/>
            <a:ext cx="2495550" cy="15240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64748B"/>
                </a:solidFill>
                <a:latin typeface="Lato"/>
                <a:ea typeface="Lato"/>
                <a:cs typeface="Lato"/>
                <a:sym typeface="Lato"/>
              </a:rPr>
              <a:t>"Why 90% of clinical drug development fails..."</a:t>
            </a:r>
            <a:endParaRPr/>
          </a:p>
        </p:txBody>
      </p:sp>
      <p:pic>
        <p:nvPicPr>
          <p:cNvPr descr="image.png" id="110" name="Google Shape;110;p14"/>
          <p:cNvPicPr preferRelativeResize="0"/>
          <p:nvPr/>
        </p:nvPicPr>
        <p:blipFill rotWithShape="1">
          <a:blip r:embed="rId7">
            <a:alphaModFix/>
          </a:blip>
          <a:srcRect b="0" l="0" r="0" t="0"/>
          <a:stretch/>
        </p:blipFill>
        <p:spPr>
          <a:xfrm>
            <a:off x="5468838" y="2931914"/>
            <a:ext cx="152400" cy="152400"/>
          </a:xfrm>
          <a:prstGeom prst="rect">
            <a:avLst/>
          </a:prstGeom>
          <a:noFill/>
          <a:ln>
            <a:noFill/>
          </a:ln>
        </p:spPr>
      </p:pic>
      <p:pic>
        <p:nvPicPr>
          <p:cNvPr descr="image.png" id="111" name="Google Shape;111;p14"/>
          <p:cNvPicPr preferRelativeResize="0"/>
          <p:nvPr/>
        </p:nvPicPr>
        <p:blipFill rotWithShape="1">
          <a:blip r:embed="rId7">
            <a:alphaModFix/>
          </a:blip>
          <a:srcRect b="0" l="0" r="0" t="0"/>
          <a:stretch/>
        </p:blipFill>
        <p:spPr>
          <a:xfrm>
            <a:off x="5468838" y="3674864"/>
            <a:ext cx="152400" cy="152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pic>
        <p:nvPicPr>
          <p:cNvPr descr="image.png" id="116" name="Google Shape;116;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7" name="Google Shape;117;p15"/>
          <p:cNvPicPr preferRelativeResize="0"/>
          <p:nvPr/>
        </p:nvPicPr>
        <p:blipFill rotWithShape="1">
          <a:blip r:embed="rId4">
            <a:alphaModFix/>
          </a:blip>
          <a:srcRect b="0" l="0" r="0" t="0"/>
          <a:stretch/>
        </p:blipFill>
        <p:spPr>
          <a:xfrm>
            <a:off x="666750" y="2433637"/>
            <a:ext cx="5841206" cy="2533650"/>
          </a:xfrm>
          <a:prstGeom prst="rect">
            <a:avLst/>
          </a:prstGeom>
          <a:noFill/>
          <a:ln>
            <a:noFill/>
          </a:ln>
        </p:spPr>
      </p:pic>
      <p:pic>
        <p:nvPicPr>
          <p:cNvPr descr="image.png" id="118" name="Google Shape;118;p15"/>
          <p:cNvPicPr preferRelativeResize="0"/>
          <p:nvPr/>
        </p:nvPicPr>
        <p:blipFill rotWithShape="1">
          <a:blip r:embed="rId5">
            <a:alphaModFix/>
          </a:blip>
          <a:srcRect b="0" l="0" r="0" t="0"/>
          <a:stretch/>
        </p:blipFill>
        <p:spPr>
          <a:xfrm>
            <a:off x="6746081" y="2433637"/>
            <a:ext cx="4779168" cy="2533650"/>
          </a:xfrm>
          <a:prstGeom prst="rect">
            <a:avLst/>
          </a:prstGeom>
          <a:noFill/>
          <a:ln>
            <a:noFill/>
          </a:ln>
        </p:spPr>
      </p:pic>
      <p:pic>
        <p:nvPicPr>
          <p:cNvPr descr="image.png" id="119" name="Google Shape;119;p15"/>
          <p:cNvPicPr preferRelativeResize="0"/>
          <p:nvPr/>
        </p:nvPicPr>
        <p:blipFill rotWithShape="1">
          <a:blip r:embed="rId6">
            <a:alphaModFix/>
          </a:blip>
          <a:srcRect b="0" l="0" r="0" t="0"/>
          <a:stretch/>
        </p:blipFill>
        <p:spPr>
          <a:xfrm>
            <a:off x="962025" y="4338637"/>
            <a:ext cx="5250656" cy="333375"/>
          </a:xfrm>
          <a:prstGeom prst="rect">
            <a:avLst/>
          </a:prstGeom>
          <a:noFill/>
          <a:ln>
            <a:noFill/>
          </a:ln>
        </p:spPr>
      </p:pic>
      <p:pic>
        <p:nvPicPr>
          <p:cNvPr descr="image.png" id="120" name="Google Shape;120;p15"/>
          <p:cNvPicPr preferRelativeResize="0"/>
          <p:nvPr/>
        </p:nvPicPr>
        <p:blipFill rotWithShape="1">
          <a:blip r:embed="rId7">
            <a:alphaModFix/>
          </a:blip>
          <a:srcRect b="0" l="0" r="0" t="0"/>
          <a:stretch/>
        </p:blipFill>
        <p:spPr>
          <a:xfrm>
            <a:off x="666750" y="6105525"/>
            <a:ext cx="10858500" cy="276225"/>
          </a:xfrm>
          <a:prstGeom prst="rect">
            <a:avLst/>
          </a:prstGeom>
          <a:noFill/>
          <a:ln>
            <a:noFill/>
          </a:ln>
        </p:spPr>
      </p:pic>
      <p:sp>
        <p:nvSpPr>
          <p:cNvPr id="121" name="Google Shape;121;p15"/>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The Functional Trap &amp; Lab Delay</a:t>
            </a:r>
            <a:endParaRPr/>
          </a:p>
        </p:txBody>
      </p:sp>
      <p:sp>
        <p:nvSpPr>
          <p:cNvPr id="122" name="Google Shape;122;p15"/>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txBox="1"/>
          <p:nvPr/>
        </p:nvSpPr>
        <p:spPr>
          <a:xfrm>
            <a:off x="666750" y="6257925"/>
            <a:ext cx="15049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SYSTEMS-LEVEL TOXICITY</a:t>
            </a:r>
            <a:endParaRPr/>
          </a:p>
        </p:txBody>
      </p:sp>
      <p:sp>
        <p:nvSpPr>
          <p:cNvPr id="124" name="Google Shape;124;p15"/>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3 OF 8</a:t>
            </a:r>
            <a:endParaRPr/>
          </a:p>
        </p:txBody>
      </p:sp>
      <p:sp>
        <p:nvSpPr>
          <p:cNvPr id="125" name="Google Shape;125;p15"/>
          <p:cNvSpPr txBox="1"/>
          <p:nvPr/>
        </p:nvSpPr>
        <p:spPr>
          <a:xfrm>
            <a:off x="1343025" y="2728912"/>
            <a:ext cx="5113139"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ER Stress &amp; Signaling Collapse</a:t>
            </a:r>
            <a:endParaRPr/>
          </a:p>
        </p:txBody>
      </p:sp>
      <p:sp>
        <p:nvSpPr>
          <p:cNvPr id="126" name="Google Shape;126;p15"/>
          <p:cNvSpPr txBox="1"/>
          <p:nvPr/>
        </p:nvSpPr>
        <p:spPr>
          <a:xfrm>
            <a:off x="962025" y="3128962"/>
            <a:ext cx="5250656"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Standard lab assays verify isolated binding (e.g. "does the protein hit Target X?"). They miss systems-level cellular stress.</a:t>
            </a:r>
            <a:endParaRPr/>
          </a:p>
        </p:txBody>
      </p:sp>
      <p:sp>
        <p:nvSpPr>
          <p:cNvPr id="127" name="Google Shape;127;p15"/>
          <p:cNvSpPr txBox="1"/>
          <p:nvPr/>
        </p:nvSpPr>
        <p:spPr>
          <a:xfrm>
            <a:off x="962025" y="3643312"/>
            <a:ext cx="5250656"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Slight changes in protein folding energy accumulate misfolded constructs in the Endoplasmic Reticulum, triggering the </a:t>
            </a:r>
            <a:r>
              <a:rPr b="1" i="0" lang="en-US" sz="1050" u="none" cap="none" strike="noStrike">
                <a:solidFill>
                  <a:srgbClr val="475569"/>
                </a:solidFill>
                <a:latin typeface="Lato"/>
                <a:ea typeface="Lato"/>
                <a:cs typeface="Lato"/>
                <a:sym typeface="Lato"/>
              </a:rPr>
              <a:t>Unfolded Protein Response (UPR)</a:t>
            </a:r>
            <a:r>
              <a:rPr b="0" i="0" lang="en-US" sz="1050" u="none" cap="none" strike="noStrike">
                <a:solidFill>
                  <a:srgbClr val="475569"/>
                </a:solidFill>
                <a:latin typeface="Lato"/>
                <a:ea typeface="Lato"/>
                <a:cs typeface="Lato"/>
                <a:sym typeface="Lato"/>
              </a:rPr>
              <a:t> and sudden cell apoptosis weeks later.</a:t>
            </a:r>
            <a:endParaRPr/>
          </a:p>
        </p:txBody>
      </p:sp>
      <p:sp>
        <p:nvSpPr>
          <p:cNvPr id="128" name="Google Shape;128;p15"/>
          <p:cNvSpPr txBox="1"/>
          <p:nvPr/>
        </p:nvSpPr>
        <p:spPr>
          <a:xfrm>
            <a:off x="7469981" y="2728912"/>
            <a:ext cx="3947993"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The 4-Week Wet-Lab Iteration Loop</a:t>
            </a:r>
            <a:endParaRPr/>
          </a:p>
        </p:txBody>
      </p:sp>
      <p:sp>
        <p:nvSpPr>
          <p:cNvPr id="129" name="Google Shape;129;p15"/>
          <p:cNvSpPr txBox="1"/>
          <p:nvPr/>
        </p:nvSpPr>
        <p:spPr>
          <a:xfrm>
            <a:off x="7041356" y="3128962"/>
            <a:ext cx="4188618"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Sourcing DNA, transfecting lines, expressing protein, and analyzing binding represents a painful physical bottleneck.</a:t>
            </a:r>
            <a:endParaRPr/>
          </a:p>
        </p:txBody>
      </p:sp>
      <p:sp>
        <p:nvSpPr>
          <p:cNvPr id="130" name="Google Shape;130;p15"/>
          <p:cNvSpPr txBox="1"/>
          <p:nvPr/>
        </p:nvSpPr>
        <p:spPr>
          <a:xfrm>
            <a:off x="7041356" y="3643312"/>
            <a:ext cx="4188618"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If variation #42 in a sequence triggers cytotoxicity or immune targeting, researchers find out </a:t>
            </a:r>
            <a:r>
              <a:rPr b="1" i="0" lang="en-US" sz="1050" u="none" cap="none" strike="noStrike">
                <a:solidFill>
                  <a:srgbClr val="475569"/>
                </a:solidFill>
                <a:latin typeface="Lato"/>
                <a:ea typeface="Lato"/>
                <a:cs typeface="Lato"/>
                <a:sym typeface="Lato"/>
              </a:rPr>
              <a:t>weeks or months later</a:t>
            </a:r>
            <a:r>
              <a:rPr b="0" i="0" lang="en-US" sz="1050" u="none" cap="none" strike="noStrike">
                <a:solidFill>
                  <a:srgbClr val="475569"/>
                </a:solidFill>
                <a:latin typeface="Lato"/>
                <a:ea typeface="Lato"/>
                <a:cs typeface="Lato"/>
                <a:sym typeface="Lato"/>
              </a:rPr>
              <a:t>, burning millions in laboratory assets before finding a safe candidate.</a:t>
            </a:r>
            <a:endParaRPr/>
          </a:p>
        </p:txBody>
      </p:sp>
      <p:pic>
        <p:nvPicPr>
          <p:cNvPr descr="image.png" id="131" name="Google Shape;131;p15"/>
          <p:cNvPicPr preferRelativeResize="0"/>
          <p:nvPr/>
        </p:nvPicPr>
        <p:blipFill rotWithShape="1">
          <a:blip r:embed="rId8">
            <a:alphaModFix/>
          </a:blip>
          <a:srcRect b="0" l="0" r="0" t="0"/>
          <a:stretch/>
        </p:blipFill>
        <p:spPr>
          <a:xfrm>
            <a:off x="962025" y="2776537"/>
            <a:ext cx="190500" cy="190500"/>
          </a:xfrm>
          <a:prstGeom prst="rect">
            <a:avLst/>
          </a:prstGeom>
          <a:noFill/>
          <a:ln>
            <a:noFill/>
          </a:ln>
        </p:spPr>
      </p:pic>
      <p:pic>
        <p:nvPicPr>
          <p:cNvPr descr="image.png" id="132" name="Google Shape;132;p15"/>
          <p:cNvPicPr preferRelativeResize="0"/>
          <p:nvPr/>
        </p:nvPicPr>
        <p:blipFill rotWithShape="1">
          <a:blip r:embed="rId9">
            <a:alphaModFix/>
          </a:blip>
          <a:srcRect b="0" l="0" r="0" t="0"/>
          <a:stretch/>
        </p:blipFill>
        <p:spPr>
          <a:xfrm>
            <a:off x="2514600" y="4433887"/>
            <a:ext cx="2145357" cy="142875"/>
          </a:xfrm>
          <a:prstGeom prst="rect">
            <a:avLst/>
          </a:prstGeom>
          <a:noFill/>
          <a:ln>
            <a:noFill/>
          </a:ln>
        </p:spPr>
      </p:pic>
      <p:pic>
        <p:nvPicPr>
          <p:cNvPr descr="image.png" id="133" name="Google Shape;133;p15"/>
          <p:cNvPicPr preferRelativeResize="0"/>
          <p:nvPr/>
        </p:nvPicPr>
        <p:blipFill rotWithShape="1">
          <a:blip r:embed="rId10">
            <a:alphaModFix/>
          </a:blip>
          <a:srcRect b="0" l="0" r="0" t="0"/>
          <a:stretch/>
        </p:blipFill>
        <p:spPr>
          <a:xfrm>
            <a:off x="7041356" y="2776537"/>
            <a:ext cx="238125" cy="190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pic>
        <p:nvPicPr>
          <p:cNvPr descr="image.png" id="138" name="Google Shape;138;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9" name="Google Shape;139;p16"/>
          <p:cNvPicPr preferRelativeResize="0"/>
          <p:nvPr/>
        </p:nvPicPr>
        <p:blipFill rotWithShape="1">
          <a:blip r:embed="rId4">
            <a:alphaModFix/>
          </a:blip>
          <a:srcRect b="0" l="0" r="0" t="0"/>
          <a:stretch/>
        </p:blipFill>
        <p:spPr>
          <a:xfrm>
            <a:off x="666750" y="3034903"/>
            <a:ext cx="2571750" cy="2026443"/>
          </a:xfrm>
          <a:prstGeom prst="rect">
            <a:avLst/>
          </a:prstGeom>
          <a:noFill/>
          <a:ln>
            <a:noFill/>
          </a:ln>
        </p:spPr>
      </p:pic>
      <p:pic>
        <p:nvPicPr>
          <p:cNvPr descr="image.png" id="140" name="Google Shape;140;p16"/>
          <p:cNvPicPr preferRelativeResize="0"/>
          <p:nvPr/>
        </p:nvPicPr>
        <p:blipFill rotWithShape="1">
          <a:blip r:embed="rId5">
            <a:alphaModFix/>
          </a:blip>
          <a:srcRect b="0" l="0" r="0" t="0"/>
          <a:stretch/>
        </p:blipFill>
        <p:spPr>
          <a:xfrm>
            <a:off x="3429000" y="3034903"/>
            <a:ext cx="2571750" cy="2026443"/>
          </a:xfrm>
          <a:prstGeom prst="rect">
            <a:avLst/>
          </a:prstGeom>
          <a:noFill/>
          <a:ln>
            <a:noFill/>
          </a:ln>
        </p:spPr>
      </p:pic>
      <p:pic>
        <p:nvPicPr>
          <p:cNvPr descr="image.png" id="141" name="Google Shape;141;p16"/>
          <p:cNvPicPr preferRelativeResize="0"/>
          <p:nvPr/>
        </p:nvPicPr>
        <p:blipFill rotWithShape="1">
          <a:blip r:embed="rId5">
            <a:alphaModFix/>
          </a:blip>
          <a:srcRect b="0" l="0" r="0" t="0"/>
          <a:stretch/>
        </p:blipFill>
        <p:spPr>
          <a:xfrm>
            <a:off x="6191250" y="3034903"/>
            <a:ext cx="2571750" cy="2026443"/>
          </a:xfrm>
          <a:prstGeom prst="rect">
            <a:avLst/>
          </a:prstGeom>
          <a:noFill/>
          <a:ln>
            <a:noFill/>
          </a:ln>
        </p:spPr>
      </p:pic>
      <p:pic>
        <p:nvPicPr>
          <p:cNvPr descr="image.png" id="142" name="Google Shape;142;p16"/>
          <p:cNvPicPr preferRelativeResize="0"/>
          <p:nvPr/>
        </p:nvPicPr>
        <p:blipFill rotWithShape="1">
          <a:blip r:embed="rId6">
            <a:alphaModFix/>
          </a:blip>
          <a:srcRect b="0" l="0" r="0" t="0"/>
          <a:stretch/>
        </p:blipFill>
        <p:spPr>
          <a:xfrm>
            <a:off x="8953500" y="3034903"/>
            <a:ext cx="2571750" cy="2026443"/>
          </a:xfrm>
          <a:prstGeom prst="rect">
            <a:avLst/>
          </a:prstGeom>
          <a:noFill/>
          <a:ln>
            <a:noFill/>
          </a:ln>
        </p:spPr>
      </p:pic>
      <p:pic>
        <p:nvPicPr>
          <p:cNvPr descr="image.png" id="143" name="Google Shape;143;p16"/>
          <p:cNvPicPr preferRelativeResize="0"/>
          <p:nvPr/>
        </p:nvPicPr>
        <p:blipFill rotWithShape="1">
          <a:blip r:embed="rId7">
            <a:alphaModFix/>
          </a:blip>
          <a:srcRect b="0" l="0" r="0" t="0"/>
          <a:stretch/>
        </p:blipFill>
        <p:spPr>
          <a:xfrm>
            <a:off x="666750" y="6105525"/>
            <a:ext cx="10858500" cy="276225"/>
          </a:xfrm>
          <a:prstGeom prst="rect">
            <a:avLst/>
          </a:prstGeom>
          <a:noFill/>
          <a:ln>
            <a:noFill/>
          </a:ln>
        </p:spPr>
      </p:pic>
      <p:sp>
        <p:nvSpPr>
          <p:cNvPr id="144" name="Google Shape;144;p16"/>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The Real Production Stack</a:t>
            </a:r>
            <a:endParaRPr/>
          </a:p>
        </p:txBody>
      </p:sp>
      <p:sp>
        <p:nvSpPr>
          <p:cNvPr id="145" name="Google Shape;145;p16"/>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6"/>
          <p:cNvSpPr txBox="1"/>
          <p:nvPr/>
        </p:nvSpPr>
        <p:spPr>
          <a:xfrm>
            <a:off x="666750" y="2339578"/>
            <a:ext cx="1085850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475569"/>
                </a:solidFill>
                <a:latin typeface="Lato"/>
                <a:ea typeface="Lato"/>
                <a:cs typeface="Lato"/>
                <a:sym typeface="Lato"/>
              </a:rPr>
              <a:t>We built a decentralized, multi-agent network that mirrors a real clinical team. Four highly specialized uAgents operate asynchronously using production-grade computational biology tools.</a:t>
            </a:r>
            <a:endParaRPr/>
          </a:p>
        </p:txBody>
      </p:sp>
      <p:sp>
        <p:nvSpPr>
          <p:cNvPr id="147" name="Google Shape;147;p16"/>
          <p:cNvSpPr txBox="1"/>
          <p:nvPr/>
        </p:nvSpPr>
        <p:spPr>
          <a:xfrm>
            <a:off x="666750" y="6257925"/>
            <a:ext cx="17716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PRODUCTION ARCHITECTURES</a:t>
            </a:r>
            <a:endParaRPr/>
          </a:p>
        </p:txBody>
      </p:sp>
      <p:sp>
        <p:nvSpPr>
          <p:cNvPr id="148" name="Google Shape;148;p16"/>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4 OF 8</a:t>
            </a:r>
            <a:endParaRPr/>
          </a:p>
        </p:txBody>
      </p:sp>
      <p:sp>
        <p:nvSpPr>
          <p:cNvPr id="149" name="Google Shape;149;p16"/>
          <p:cNvSpPr txBox="1"/>
          <p:nvPr/>
        </p:nvSpPr>
        <p:spPr>
          <a:xfrm>
            <a:off x="866775" y="3796903"/>
            <a:ext cx="2280285"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75" u="none" cap="none" strike="noStrike">
                <a:solidFill>
                  <a:srgbClr val="0F172A"/>
                </a:solidFill>
                <a:latin typeface="Poppins SemiBold"/>
                <a:ea typeface="Poppins SemiBold"/>
                <a:cs typeface="Poppins SemiBold"/>
                <a:sym typeface="Poppins SemiBold"/>
              </a:rPr>
              <a:t>1. ESMFold</a:t>
            </a:r>
            <a:endParaRPr/>
          </a:p>
        </p:txBody>
      </p:sp>
      <p:sp>
        <p:nvSpPr>
          <p:cNvPr id="150" name="Google Shape;150;p16"/>
          <p:cNvSpPr txBox="1"/>
          <p:nvPr/>
        </p:nvSpPr>
        <p:spPr>
          <a:xfrm>
            <a:off x="866775" y="4120753"/>
            <a:ext cx="2171700"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475569"/>
                </a:solidFill>
                <a:latin typeface="Lato"/>
                <a:ea typeface="Lato"/>
                <a:cs typeface="Lato"/>
                <a:sym typeface="Lato"/>
              </a:rPr>
              <a:t>Ensures high-throughput structural stability, predicting folding confidence metrics to pre-emptively bypass ER stress.</a:t>
            </a:r>
            <a:endParaRPr/>
          </a:p>
        </p:txBody>
      </p:sp>
      <p:sp>
        <p:nvSpPr>
          <p:cNvPr id="151" name="Google Shape;151;p16"/>
          <p:cNvSpPr txBox="1"/>
          <p:nvPr/>
        </p:nvSpPr>
        <p:spPr>
          <a:xfrm>
            <a:off x="3629025" y="3796903"/>
            <a:ext cx="2280285"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75" u="none" cap="none" strike="noStrike">
                <a:solidFill>
                  <a:srgbClr val="0F172A"/>
                </a:solidFill>
                <a:latin typeface="Poppins SemiBold"/>
                <a:ea typeface="Poppins SemiBold"/>
                <a:cs typeface="Poppins SemiBold"/>
                <a:sym typeface="Poppins SemiBold"/>
              </a:rPr>
              <a:t>2. IEDB Pan-Binding</a:t>
            </a:r>
            <a:endParaRPr/>
          </a:p>
        </p:txBody>
      </p:sp>
      <p:sp>
        <p:nvSpPr>
          <p:cNvPr id="152" name="Google Shape;152;p16"/>
          <p:cNvSpPr txBox="1"/>
          <p:nvPr/>
        </p:nvSpPr>
        <p:spPr>
          <a:xfrm>
            <a:off x="3629025" y="4120753"/>
            <a:ext cx="2171700"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475569"/>
                </a:solidFill>
                <a:latin typeface="Lato"/>
                <a:ea typeface="Lato"/>
                <a:cs typeface="Lato"/>
                <a:sym typeface="Lato"/>
              </a:rPr>
              <a:t>Models patient-specific HLA binding dynamically, checking if edited peptides successfully fit the patient’s histocompatibility molecules.</a:t>
            </a:r>
            <a:endParaRPr/>
          </a:p>
        </p:txBody>
      </p:sp>
      <p:sp>
        <p:nvSpPr>
          <p:cNvPr id="153" name="Google Shape;153;p16"/>
          <p:cNvSpPr txBox="1"/>
          <p:nvPr/>
        </p:nvSpPr>
        <p:spPr>
          <a:xfrm>
            <a:off x="6391275" y="3796903"/>
            <a:ext cx="2280285"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75" u="none" cap="none" strike="noStrike">
                <a:solidFill>
                  <a:srgbClr val="0F172A"/>
                </a:solidFill>
                <a:latin typeface="Poppins SemiBold"/>
                <a:ea typeface="Poppins SemiBold"/>
                <a:cs typeface="Poppins SemiBold"/>
                <a:sym typeface="Poppins SemiBold"/>
              </a:rPr>
              <a:t>3. BepiPred (Linear)</a:t>
            </a:r>
            <a:endParaRPr/>
          </a:p>
        </p:txBody>
      </p:sp>
      <p:sp>
        <p:nvSpPr>
          <p:cNvPr id="154" name="Google Shape;154;p16"/>
          <p:cNvSpPr txBox="1"/>
          <p:nvPr/>
        </p:nvSpPr>
        <p:spPr>
          <a:xfrm>
            <a:off x="6391275" y="4120753"/>
            <a:ext cx="2171700" cy="692943"/>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475569"/>
                </a:solidFill>
                <a:latin typeface="Lato"/>
                <a:ea typeface="Lato"/>
                <a:cs typeface="Lato"/>
                <a:sym typeface="Lato"/>
              </a:rPr>
              <a:t>Performs linear epitope mapping for B-cell response (Stage 3a/b are registry-ready to swap mock TCR models for custom endpoints).</a:t>
            </a:r>
            <a:endParaRPr/>
          </a:p>
        </p:txBody>
      </p:sp>
      <p:sp>
        <p:nvSpPr>
          <p:cNvPr id="155" name="Google Shape;155;p16"/>
          <p:cNvSpPr txBox="1"/>
          <p:nvPr/>
        </p:nvSpPr>
        <p:spPr>
          <a:xfrm>
            <a:off x="9153525" y="3796903"/>
            <a:ext cx="2280285"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75" u="none" cap="none" strike="noStrike">
                <a:solidFill>
                  <a:srgbClr val="0F172A"/>
                </a:solidFill>
                <a:latin typeface="Poppins SemiBold"/>
                <a:ea typeface="Poppins SemiBold"/>
                <a:cs typeface="Poppins SemiBold"/>
                <a:sym typeface="Poppins SemiBold"/>
              </a:rPr>
              <a:t>4. GenBio AI (AIDO)</a:t>
            </a:r>
            <a:endParaRPr/>
          </a:p>
        </p:txBody>
      </p:sp>
      <p:sp>
        <p:nvSpPr>
          <p:cNvPr id="156" name="Google Shape;156;p16"/>
          <p:cNvSpPr txBox="1"/>
          <p:nvPr/>
        </p:nvSpPr>
        <p:spPr>
          <a:xfrm>
            <a:off x="9153525" y="4120753"/>
            <a:ext cx="2171700" cy="519707"/>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475569"/>
                </a:solidFill>
                <a:latin typeface="Lato"/>
                <a:ea typeface="Lato"/>
                <a:cs typeface="Lato"/>
                <a:sym typeface="Lato"/>
              </a:rPr>
              <a:t>Produces probabilistic cellular network risk metrics, capturing multi-pathway genetic perturbation vectors.</a:t>
            </a:r>
            <a:endParaRPr/>
          </a:p>
        </p:txBody>
      </p:sp>
      <p:pic>
        <p:nvPicPr>
          <p:cNvPr descr="image.png" id="157" name="Google Shape;157;p16"/>
          <p:cNvPicPr preferRelativeResize="0"/>
          <p:nvPr/>
        </p:nvPicPr>
        <p:blipFill rotWithShape="1">
          <a:blip r:embed="rId8">
            <a:alphaModFix/>
          </a:blip>
          <a:srcRect b="0" l="0" r="0" t="0"/>
          <a:stretch/>
        </p:blipFill>
        <p:spPr>
          <a:xfrm>
            <a:off x="866775" y="3320653"/>
            <a:ext cx="266700" cy="304800"/>
          </a:xfrm>
          <a:prstGeom prst="rect">
            <a:avLst/>
          </a:prstGeom>
          <a:noFill/>
          <a:ln>
            <a:noFill/>
          </a:ln>
        </p:spPr>
      </p:pic>
      <p:pic>
        <p:nvPicPr>
          <p:cNvPr descr="image.png" id="158" name="Google Shape;158;p16"/>
          <p:cNvPicPr preferRelativeResize="0"/>
          <p:nvPr/>
        </p:nvPicPr>
        <p:blipFill rotWithShape="1">
          <a:blip r:embed="rId9">
            <a:alphaModFix/>
          </a:blip>
          <a:srcRect b="0" l="0" r="0" t="0"/>
          <a:stretch/>
        </p:blipFill>
        <p:spPr>
          <a:xfrm>
            <a:off x="3629025" y="3320653"/>
            <a:ext cx="304800" cy="304800"/>
          </a:xfrm>
          <a:prstGeom prst="rect">
            <a:avLst/>
          </a:prstGeom>
          <a:noFill/>
          <a:ln>
            <a:noFill/>
          </a:ln>
        </p:spPr>
      </p:pic>
      <p:pic>
        <p:nvPicPr>
          <p:cNvPr descr="image.png" id="159" name="Google Shape;159;p16"/>
          <p:cNvPicPr preferRelativeResize="0"/>
          <p:nvPr/>
        </p:nvPicPr>
        <p:blipFill rotWithShape="1">
          <a:blip r:embed="rId10">
            <a:alphaModFix/>
          </a:blip>
          <a:srcRect b="0" l="0" r="0" t="0"/>
          <a:stretch/>
        </p:blipFill>
        <p:spPr>
          <a:xfrm>
            <a:off x="6391275" y="3320653"/>
            <a:ext cx="381000" cy="304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pic>
        <p:nvPicPr>
          <p:cNvPr descr="image.png" id="164" name="Google Shape;164;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5" name="Google Shape;165;p17"/>
          <p:cNvPicPr preferRelativeResize="0"/>
          <p:nvPr/>
        </p:nvPicPr>
        <p:blipFill rotWithShape="1">
          <a:blip r:embed="rId4">
            <a:alphaModFix/>
          </a:blip>
          <a:srcRect b="0" l="0" r="0" t="0"/>
          <a:stretch/>
        </p:blipFill>
        <p:spPr>
          <a:xfrm>
            <a:off x="6810375" y="2033587"/>
            <a:ext cx="4714875" cy="3333750"/>
          </a:xfrm>
          <a:prstGeom prst="rect">
            <a:avLst/>
          </a:prstGeom>
          <a:noFill/>
          <a:ln>
            <a:noFill/>
          </a:ln>
        </p:spPr>
      </p:pic>
      <p:pic>
        <p:nvPicPr>
          <p:cNvPr descr="image.png" id="166" name="Google Shape;166;p17"/>
          <p:cNvPicPr preferRelativeResize="0"/>
          <p:nvPr/>
        </p:nvPicPr>
        <p:blipFill rotWithShape="1">
          <a:blip r:embed="rId5">
            <a:alphaModFix/>
          </a:blip>
          <a:srcRect b="0" l="0" r="0" t="0"/>
          <a:stretch/>
        </p:blipFill>
        <p:spPr>
          <a:xfrm>
            <a:off x="666750" y="6105525"/>
            <a:ext cx="10858500" cy="276225"/>
          </a:xfrm>
          <a:prstGeom prst="rect">
            <a:avLst/>
          </a:prstGeom>
          <a:noFill/>
          <a:ln>
            <a:noFill/>
          </a:ln>
        </p:spPr>
      </p:pic>
      <p:sp>
        <p:nvSpPr>
          <p:cNvPr id="167" name="Google Shape;167;p17"/>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Orchestrated Safety Architecture</a:t>
            </a:r>
            <a:endParaRPr/>
          </a:p>
        </p:txBody>
      </p:sp>
      <p:sp>
        <p:nvSpPr>
          <p:cNvPr id="168" name="Google Shape;168;p17"/>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7"/>
          <p:cNvSpPr txBox="1"/>
          <p:nvPr/>
        </p:nvSpPr>
        <p:spPr>
          <a:xfrm>
            <a:off x="666750" y="6257925"/>
            <a:ext cx="167640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ORCHESTRATION &amp; ROUTING</a:t>
            </a:r>
            <a:endParaRPr/>
          </a:p>
        </p:txBody>
      </p:sp>
      <p:sp>
        <p:nvSpPr>
          <p:cNvPr id="170" name="Google Shape;170;p17"/>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5 OF 8</a:t>
            </a:r>
            <a:endParaRPr/>
          </a:p>
        </p:txBody>
      </p:sp>
      <p:sp>
        <p:nvSpPr>
          <p:cNvPr id="171" name="Google Shape;171;p17"/>
          <p:cNvSpPr txBox="1"/>
          <p:nvPr/>
        </p:nvSpPr>
        <p:spPr>
          <a:xfrm>
            <a:off x="666750" y="2133600"/>
            <a:ext cx="6050756"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1E293B"/>
                </a:solidFill>
                <a:latin typeface="Poppins"/>
                <a:ea typeface="Poppins"/>
                <a:cs typeface="Poppins"/>
                <a:sym typeface="Poppins"/>
              </a:rPr>
              <a:t>Orchestration Layers &amp; Mandatory Checks</a:t>
            </a:r>
            <a:endParaRPr/>
          </a:p>
        </p:txBody>
      </p:sp>
      <p:sp>
        <p:nvSpPr>
          <p:cNvPr id="172" name="Google Shape;172;p17"/>
          <p:cNvSpPr txBox="1"/>
          <p:nvPr/>
        </p:nvSpPr>
        <p:spPr>
          <a:xfrm>
            <a:off x="666750" y="2495550"/>
            <a:ext cx="5762625"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Lato"/>
                <a:ea typeface="Lato"/>
                <a:cs typeface="Lato"/>
                <a:sym typeface="Lato"/>
              </a:rPr>
              <a:t>The system coordinates peer-to-peer specialized nodes, moving beyond simple static script executions to enforce deep cellular safety benchmarks.</a:t>
            </a:r>
            <a:endParaRPr/>
          </a:p>
        </p:txBody>
      </p:sp>
      <p:pic>
        <p:nvPicPr>
          <p:cNvPr descr="image.png" id="173" name="Google Shape;173;p17"/>
          <p:cNvPicPr preferRelativeResize="0"/>
          <p:nvPr/>
        </p:nvPicPr>
        <p:blipFill rotWithShape="1">
          <a:blip r:embed="rId6">
            <a:alphaModFix/>
          </a:blip>
          <a:srcRect b="0" l="0" r="0" t="0"/>
          <a:stretch/>
        </p:blipFill>
        <p:spPr>
          <a:xfrm>
            <a:off x="6810375" y="2033587"/>
            <a:ext cx="4714875" cy="3333750"/>
          </a:xfrm>
          <a:prstGeom prst="rect">
            <a:avLst/>
          </a:prstGeom>
          <a:noFill/>
          <a:ln>
            <a:noFill/>
          </a:ln>
        </p:spPr>
      </p:pic>
      <p:sp>
        <p:nvSpPr>
          <p:cNvPr id="174" name="Google Shape;174;p17"/>
          <p:cNvSpPr txBox="1"/>
          <p:nvPr/>
        </p:nvSpPr>
        <p:spPr>
          <a:xfrm>
            <a:off x="933450" y="3038475"/>
            <a:ext cx="5495925" cy="600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125" u="none" cap="none" strike="noStrike">
                <a:solidFill>
                  <a:srgbClr val="475569"/>
                </a:solidFill>
                <a:latin typeface="Lato"/>
                <a:ea typeface="Lato"/>
                <a:cs typeface="Lato"/>
                <a:sym typeface="Lato"/>
              </a:rPr>
              <a:t>Orchestration vs. Monolithic:</a:t>
            </a:r>
            <a:r>
              <a:rPr b="0" i="0" lang="en-US" sz="1125" u="none" cap="none" strike="noStrike">
                <a:solidFill>
                  <a:srgbClr val="475569"/>
                </a:solidFill>
                <a:latin typeface="Lato"/>
                <a:ea typeface="Lato"/>
                <a:cs typeface="Lato"/>
                <a:sym typeface="Lato"/>
              </a:rPr>
              <a:t> The LangGraph state machine governs localized sequential execution solely for monolithic setups. The true agentic workflow leverages a dedicated Orchestrator uAgent managing asynchronous routing on Agentverse.</a:t>
            </a:r>
            <a:endParaRPr/>
          </a:p>
        </p:txBody>
      </p:sp>
      <p:sp>
        <p:nvSpPr>
          <p:cNvPr id="175" name="Google Shape;175;p17"/>
          <p:cNvSpPr txBox="1"/>
          <p:nvPr/>
        </p:nvSpPr>
        <p:spPr>
          <a:xfrm>
            <a:off x="933450" y="3781425"/>
            <a:ext cx="5495925" cy="600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125" u="none" cap="none" strike="noStrike">
                <a:solidFill>
                  <a:srgbClr val="475569"/>
                </a:solidFill>
                <a:latin typeface="Lato"/>
                <a:ea typeface="Lato"/>
                <a:cs typeface="Lato"/>
                <a:sym typeface="Lato"/>
              </a:rPr>
              <a:t>Direct Specialist Inquiries:</a:t>
            </a:r>
            <a:r>
              <a:rPr b="0" i="0" lang="en-US" sz="1125" u="none" cap="none" strike="noStrike">
                <a:solidFill>
                  <a:srgbClr val="475569"/>
                </a:solidFill>
                <a:latin typeface="Lato"/>
                <a:ea typeface="Lato"/>
                <a:cs typeface="Lato"/>
                <a:sym typeface="Lato"/>
              </a:rPr>
              <a:t> Any external patient-matching or drug design agent can directly call an individual specialist node (e.g. the ESMFold or IEDB stage) if they already have the data they need, bypassing the rest of the loop.</a:t>
            </a:r>
            <a:endParaRPr/>
          </a:p>
        </p:txBody>
      </p:sp>
      <p:sp>
        <p:nvSpPr>
          <p:cNvPr id="176" name="Google Shape;176;p17"/>
          <p:cNvSpPr txBox="1"/>
          <p:nvPr/>
        </p:nvSpPr>
        <p:spPr>
          <a:xfrm>
            <a:off x="933450" y="4524375"/>
            <a:ext cx="5495925" cy="600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125" u="none" cap="none" strike="noStrike">
                <a:solidFill>
                  <a:srgbClr val="475569"/>
                </a:solidFill>
                <a:latin typeface="Lato"/>
                <a:ea typeface="Lato"/>
                <a:cs typeface="Lato"/>
                <a:sym typeface="Lato"/>
              </a:rPr>
              <a:t>Mandatory Stage 4 (No Early Exits):</a:t>
            </a:r>
            <a:r>
              <a:rPr b="0" i="0" lang="en-US" sz="1125" u="none" cap="none" strike="noStrike">
                <a:solidFill>
                  <a:srgbClr val="475569"/>
                </a:solidFill>
                <a:latin typeface="Lato"/>
                <a:ea typeface="Lato"/>
                <a:cs typeface="Lato"/>
                <a:sym typeface="Lato"/>
              </a:rPr>
              <a:t> Exiting early after Stage 2 is deprecated. Even with perfect immune tolerance, Stage 4 (Systems Dynamics) must run—introducing any new protein fundamentally alters the host gene regulatory network.</a:t>
            </a:r>
            <a:endParaRPr/>
          </a:p>
        </p:txBody>
      </p:sp>
      <p:pic>
        <p:nvPicPr>
          <p:cNvPr descr="image.png" id="177" name="Google Shape;177;p17"/>
          <p:cNvPicPr preferRelativeResize="0"/>
          <p:nvPr/>
        </p:nvPicPr>
        <p:blipFill rotWithShape="1">
          <a:blip r:embed="rId7">
            <a:alphaModFix/>
          </a:blip>
          <a:srcRect b="0" l="0" r="0" t="0"/>
          <a:stretch/>
        </p:blipFill>
        <p:spPr>
          <a:xfrm>
            <a:off x="666750" y="3057525"/>
            <a:ext cx="152400" cy="152400"/>
          </a:xfrm>
          <a:prstGeom prst="rect">
            <a:avLst/>
          </a:prstGeom>
          <a:noFill/>
          <a:ln>
            <a:noFill/>
          </a:ln>
        </p:spPr>
      </p:pic>
      <p:pic>
        <p:nvPicPr>
          <p:cNvPr descr="image.png" id="178" name="Google Shape;178;p17"/>
          <p:cNvPicPr preferRelativeResize="0"/>
          <p:nvPr/>
        </p:nvPicPr>
        <p:blipFill rotWithShape="1">
          <a:blip r:embed="rId7">
            <a:alphaModFix/>
          </a:blip>
          <a:srcRect b="0" l="0" r="0" t="0"/>
          <a:stretch/>
        </p:blipFill>
        <p:spPr>
          <a:xfrm>
            <a:off x="666750" y="3800475"/>
            <a:ext cx="152400" cy="152400"/>
          </a:xfrm>
          <a:prstGeom prst="rect">
            <a:avLst/>
          </a:prstGeom>
          <a:noFill/>
          <a:ln>
            <a:noFill/>
          </a:ln>
        </p:spPr>
      </p:pic>
      <p:pic>
        <p:nvPicPr>
          <p:cNvPr descr="image.png" id="179" name="Google Shape;179;p17"/>
          <p:cNvPicPr preferRelativeResize="0"/>
          <p:nvPr/>
        </p:nvPicPr>
        <p:blipFill rotWithShape="1">
          <a:blip r:embed="rId7">
            <a:alphaModFix/>
          </a:blip>
          <a:srcRect b="0" l="0" r="0" t="0"/>
          <a:stretch/>
        </p:blipFill>
        <p:spPr>
          <a:xfrm>
            <a:off x="666750" y="4543425"/>
            <a:ext cx="152400" cy="15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pic>
        <p:nvPicPr>
          <p:cNvPr descr="image.png" id="184" name="Google Shape;184;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5" name="Google Shape;185;p18"/>
          <p:cNvPicPr preferRelativeResize="0"/>
          <p:nvPr/>
        </p:nvPicPr>
        <p:blipFill rotWithShape="1">
          <a:blip r:embed="rId4">
            <a:alphaModFix/>
          </a:blip>
          <a:srcRect b="0" l="0" r="0" t="0"/>
          <a:stretch/>
        </p:blipFill>
        <p:spPr>
          <a:xfrm>
            <a:off x="666750" y="2390775"/>
            <a:ext cx="5841206" cy="2619375"/>
          </a:xfrm>
          <a:prstGeom prst="rect">
            <a:avLst/>
          </a:prstGeom>
          <a:noFill/>
          <a:ln>
            <a:noFill/>
          </a:ln>
        </p:spPr>
      </p:pic>
      <p:pic>
        <p:nvPicPr>
          <p:cNvPr descr="image.png" id="186" name="Google Shape;186;p18"/>
          <p:cNvPicPr preferRelativeResize="0"/>
          <p:nvPr/>
        </p:nvPicPr>
        <p:blipFill rotWithShape="1">
          <a:blip r:embed="rId5">
            <a:alphaModFix/>
          </a:blip>
          <a:srcRect b="0" l="0" r="0" t="0"/>
          <a:stretch/>
        </p:blipFill>
        <p:spPr>
          <a:xfrm>
            <a:off x="6746081" y="2390775"/>
            <a:ext cx="4779168" cy="2619375"/>
          </a:xfrm>
          <a:prstGeom prst="rect">
            <a:avLst/>
          </a:prstGeom>
          <a:noFill/>
          <a:ln>
            <a:noFill/>
          </a:ln>
        </p:spPr>
      </p:pic>
      <p:pic>
        <p:nvPicPr>
          <p:cNvPr descr="image.png" id="187" name="Google Shape;187;p18"/>
          <p:cNvPicPr preferRelativeResize="0"/>
          <p:nvPr/>
        </p:nvPicPr>
        <p:blipFill rotWithShape="1">
          <a:blip r:embed="rId6">
            <a:alphaModFix/>
          </a:blip>
          <a:srcRect b="0" l="0" r="0" t="0"/>
          <a:stretch/>
        </p:blipFill>
        <p:spPr>
          <a:xfrm>
            <a:off x="666750" y="6105525"/>
            <a:ext cx="10858500" cy="276225"/>
          </a:xfrm>
          <a:prstGeom prst="rect">
            <a:avLst/>
          </a:prstGeom>
          <a:noFill/>
          <a:ln>
            <a:noFill/>
          </a:ln>
        </p:spPr>
      </p:pic>
      <p:sp>
        <p:nvSpPr>
          <p:cNvPr id="188" name="Google Shape;188;p18"/>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Engineering Realities &amp; Modularity</a:t>
            </a:r>
            <a:endParaRPr/>
          </a:p>
        </p:txBody>
      </p:sp>
      <p:sp>
        <p:nvSpPr>
          <p:cNvPr id="189" name="Google Shape;189;p18"/>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8"/>
          <p:cNvSpPr txBox="1"/>
          <p:nvPr/>
        </p:nvSpPr>
        <p:spPr>
          <a:xfrm>
            <a:off x="666750" y="6257925"/>
            <a:ext cx="1476375"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THE COMPOSABLE VALUE</a:t>
            </a:r>
            <a:endParaRPr/>
          </a:p>
        </p:txBody>
      </p:sp>
      <p:sp>
        <p:nvSpPr>
          <p:cNvPr id="191" name="Google Shape;191;p18"/>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6 OF 8</a:t>
            </a:r>
            <a:endParaRPr/>
          </a:p>
        </p:txBody>
      </p:sp>
      <p:sp>
        <p:nvSpPr>
          <p:cNvPr id="192" name="Google Shape;192;p18"/>
          <p:cNvSpPr txBox="1"/>
          <p:nvPr/>
        </p:nvSpPr>
        <p:spPr>
          <a:xfrm>
            <a:off x="1343025" y="2686050"/>
            <a:ext cx="5113139"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Honest Computational Limits</a:t>
            </a:r>
            <a:endParaRPr/>
          </a:p>
        </p:txBody>
      </p:sp>
      <p:sp>
        <p:nvSpPr>
          <p:cNvPr id="193" name="Google Shape;193;p18"/>
          <p:cNvSpPr txBox="1"/>
          <p:nvPr/>
        </p:nvSpPr>
        <p:spPr>
          <a:xfrm>
            <a:off x="962025" y="3086100"/>
            <a:ext cx="5250656"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Lato"/>
                <a:ea typeface="Lato"/>
                <a:cs typeface="Lato"/>
                <a:sym typeface="Lato"/>
              </a:rPr>
              <a:t>Biased Training Data:</a:t>
            </a:r>
            <a:r>
              <a:rPr b="0" i="0" lang="en-US" sz="1050" u="none" cap="none" strike="noStrike">
                <a:solidFill>
                  <a:srgbClr val="475569"/>
                </a:solidFill>
                <a:latin typeface="Lato"/>
                <a:ea typeface="Lato"/>
                <a:cs typeface="Lato"/>
                <a:sym typeface="Lato"/>
              </a:rPr>
              <a:t> The global IEDB dataset is heavily skewed toward European HLA genotypes, decreasing accuracy for minority cohorts.</a:t>
            </a:r>
            <a:endParaRPr/>
          </a:p>
        </p:txBody>
      </p:sp>
      <p:sp>
        <p:nvSpPr>
          <p:cNvPr id="194" name="Google Shape;194;p18"/>
          <p:cNvSpPr txBox="1"/>
          <p:nvPr/>
        </p:nvSpPr>
        <p:spPr>
          <a:xfrm>
            <a:off x="962025" y="3600450"/>
            <a:ext cx="5250656"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Lato"/>
                <a:ea typeface="Lato"/>
                <a:cs typeface="Lato"/>
                <a:sym typeface="Lato"/>
              </a:rPr>
              <a:t>Linear Epitopes:</a:t>
            </a:r>
            <a:r>
              <a:rPr b="0" i="0" lang="en-US" sz="1050" u="none" cap="none" strike="noStrike">
                <a:solidFill>
                  <a:srgbClr val="475569"/>
                </a:solidFill>
                <a:latin typeface="Lato"/>
                <a:ea typeface="Lato"/>
                <a:cs typeface="Lato"/>
                <a:sym typeface="Lato"/>
              </a:rPr>
              <a:t> BepiPred targets linear epitopes, missing conformational 3D geometry constraints.</a:t>
            </a:r>
            <a:endParaRPr/>
          </a:p>
        </p:txBody>
      </p:sp>
      <p:sp>
        <p:nvSpPr>
          <p:cNvPr id="195" name="Google Shape;195;p18"/>
          <p:cNvSpPr txBox="1"/>
          <p:nvPr/>
        </p:nvSpPr>
        <p:spPr>
          <a:xfrm>
            <a:off x="962025" y="4114800"/>
            <a:ext cx="5250656"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050" u="none" cap="none" strike="noStrike">
                <a:solidFill>
                  <a:srgbClr val="475569"/>
                </a:solidFill>
                <a:latin typeface="Lato"/>
                <a:ea typeface="Lato"/>
                <a:cs typeface="Lato"/>
                <a:sym typeface="Lato"/>
              </a:rPr>
              <a:t>Black-Box Predictions:</a:t>
            </a:r>
            <a:r>
              <a:rPr b="0" i="0" lang="en-US" sz="1050" u="none" cap="none" strike="noStrike">
                <a:solidFill>
                  <a:srgbClr val="475569"/>
                </a:solidFill>
                <a:latin typeface="Lato"/>
                <a:ea typeface="Lato"/>
                <a:cs typeface="Lato"/>
                <a:sym typeface="Lato"/>
              </a:rPr>
              <a:t> Systems biology models like GenBio AIDO are probabilistic deep neural nets, not true physical pathway chemical simulators.</a:t>
            </a:r>
            <a:endParaRPr/>
          </a:p>
        </p:txBody>
      </p:sp>
      <p:sp>
        <p:nvSpPr>
          <p:cNvPr id="196" name="Google Shape;196;p18"/>
          <p:cNvSpPr txBox="1"/>
          <p:nvPr/>
        </p:nvSpPr>
        <p:spPr>
          <a:xfrm>
            <a:off x="7422356" y="2686050"/>
            <a:ext cx="3997999"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Why Multi-Agent is the Answer</a:t>
            </a:r>
            <a:endParaRPr/>
          </a:p>
        </p:txBody>
      </p:sp>
      <p:sp>
        <p:nvSpPr>
          <p:cNvPr id="197" name="Google Shape;197;p18"/>
          <p:cNvSpPr txBox="1"/>
          <p:nvPr/>
        </p:nvSpPr>
        <p:spPr>
          <a:xfrm>
            <a:off x="7041356" y="3086100"/>
            <a:ext cx="4188618"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Instead of a brittle monolithic script, we built an </a:t>
            </a:r>
            <a:r>
              <a:rPr b="1" i="0" lang="en-US" sz="1050" u="none" cap="none" strike="noStrike">
                <a:solidFill>
                  <a:srgbClr val="475569"/>
                </a:solidFill>
                <a:latin typeface="Lato"/>
                <a:ea typeface="Lato"/>
                <a:cs typeface="Lato"/>
                <a:sym typeface="Lato"/>
              </a:rPr>
              <a:t>independent node registry</a:t>
            </a:r>
            <a:r>
              <a:rPr b="0" i="0" lang="en-US" sz="1050" u="none" cap="none" strike="noStrike">
                <a:solidFill>
                  <a:srgbClr val="475569"/>
                </a:solidFill>
                <a:latin typeface="Lato"/>
                <a:ea typeface="Lato"/>
                <a:cs typeface="Lato"/>
                <a:sym typeface="Lato"/>
              </a:rPr>
              <a:t> on Fetch.ai.</a:t>
            </a:r>
            <a:endParaRPr/>
          </a:p>
        </p:txBody>
      </p:sp>
      <p:sp>
        <p:nvSpPr>
          <p:cNvPr id="198" name="Google Shape;198;p18"/>
          <p:cNvSpPr txBox="1"/>
          <p:nvPr/>
        </p:nvSpPr>
        <p:spPr>
          <a:xfrm>
            <a:off x="7041356" y="3600450"/>
            <a:ext cx="4188618"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If a better 3D conformational B-cell model drops next week, or non-biased global biobanks publish diverse HLA profiles, </a:t>
            </a:r>
            <a:r>
              <a:rPr b="1" i="0" lang="en-US" sz="1050" u="none" cap="none" strike="noStrike">
                <a:solidFill>
                  <a:srgbClr val="475569"/>
                </a:solidFill>
                <a:latin typeface="Lato"/>
                <a:ea typeface="Lato"/>
                <a:cs typeface="Lato"/>
                <a:sym typeface="Lato"/>
              </a:rPr>
              <a:t>you simply swap out that single node</a:t>
            </a:r>
            <a:r>
              <a:rPr b="0" i="0" lang="en-US" sz="1050" u="none" cap="none" strike="noStrike">
                <a:solidFill>
                  <a:srgbClr val="475569"/>
                </a:solidFill>
                <a:latin typeface="Lato"/>
                <a:ea typeface="Lato"/>
                <a:cs typeface="Lato"/>
                <a:sym typeface="Lato"/>
              </a:rPr>
              <a:t>.</a:t>
            </a:r>
            <a:endParaRPr/>
          </a:p>
        </p:txBody>
      </p:sp>
      <p:sp>
        <p:nvSpPr>
          <p:cNvPr id="199" name="Google Shape;199;p18"/>
          <p:cNvSpPr txBox="1"/>
          <p:nvPr/>
        </p:nvSpPr>
        <p:spPr>
          <a:xfrm>
            <a:off x="7041356" y="4314825"/>
            <a:ext cx="4188618"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Our pipeline is built as a flexible interface. The software infrastructure remains future-proof as scientific tooling catches up.</a:t>
            </a:r>
            <a:endParaRPr/>
          </a:p>
        </p:txBody>
      </p:sp>
      <p:pic>
        <p:nvPicPr>
          <p:cNvPr descr="image.png" id="200" name="Google Shape;200;p18"/>
          <p:cNvPicPr preferRelativeResize="0"/>
          <p:nvPr/>
        </p:nvPicPr>
        <p:blipFill rotWithShape="1">
          <a:blip r:embed="rId7">
            <a:alphaModFix/>
          </a:blip>
          <a:srcRect b="0" l="0" r="0" t="0"/>
          <a:stretch/>
        </p:blipFill>
        <p:spPr>
          <a:xfrm>
            <a:off x="962025" y="2733675"/>
            <a:ext cx="190500" cy="190500"/>
          </a:xfrm>
          <a:prstGeom prst="rect">
            <a:avLst/>
          </a:prstGeom>
          <a:noFill/>
          <a:ln>
            <a:noFill/>
          </a:ln>
        </p:spPr>
      </p:pic>
      <p:pic>
        <p:nvPicPr>
          <p:cNvPr descr="image.png" id="201" name="Google Shape;201;p18"/>
          <p:cNvPicPr preferRelativeResize="0"/>
          <p:nvPr/>
        </p:nvPicPr>
        <p:blipFill rotWithShape="1">
          <a:blip r:embed="rId8">
            <a:alphaModFix/>
          </a:blip>
          <a:srcRect b="0" l="0" r="0" t="0"/>
          <a:stretch/>
        </p:blipFill>
        <p:spPr>
          <a:xfrm>
            <a:off x="7041356" y="2733675"/>
            <a:ext cx="190500" cy="19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pic>
        <p:nvPicPr>
          <p:cNvPr descr="image.png" id="206" name="Google Shape;206;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7" name="Google Shape;207;p19"/>
          <p:cNvPicPr preferRelativeResize="0"/>
          <p:nvPr/>
        </p:nvPicPr>
        <p:blipFill rotWithShape="1">
          <a:blip r:embed="rId4">
            <a:alphaModFix/>
          </a:blip>
          <a:srcRect b="0" l="0" r="0" t="0"/>
          <a:stretch/>
        </p:blipFill>
        <p:spPr>
          <a:xfrm>
            <a:off x="666750" y="2724150"/>
            <a:ext cx="5841206" cy="1952625"/>
          </a:xfrm>
          <a:prstGeom prst="rect">
            <a:avLst/>
          </a:prstGeom>
          <a:noFill/>
          <a:ln>
            <a:noFill/>
          </a:ln>
        </p:spPr>
      </p:pic>
      <p:pic>
        <p:nvPicPr>
          <p:cNvPr descr="image.png" id="208" name="Google Shape;208;p19"/>
          <p:cNvPicPr preferRelativeResize="0"/>
          <p:nvPr/>
        </p:nvPicPr>
        <p:blipFill rotWithShape="1">
          <a:blip r:embed="rId5">
            <a:alphaModFix/>
          </a:blip>
          <a:srcRect b="0" l="0" r="0" t="0"/>
          <a:stretch/>
        </p:blipFill>
        <p:spPr>
          <a:xfrm>
            <a:off x="6746081" y="2724150"/>
            <a:ext cx="4779168" cy="1952625"/>
          </a:xfrm>
          <a:prstGeom prst="rect">
            <a:avLst/>
          </a:prstGeom>
          <a:noFill/>
          <a:ln>
            <a:noFill/>
          </a:ln>
        </p:spPr>
      </p:pic>
      <p:pic>
        <p:nvPicPr>
          <p:cNvPr descr="image.png" id="209" name="Google Shape;209;p19"/>
          <p:cNvPicPr preferRelativeResize="0"/>
          <p:nvPr/>
        </p:nvPicPr>
        <p:blipFill rotWithShape="1">
          <a:blip r:embed="rId6">
            <a:alphaModFix/>
          </a:blip>
          <a:srcRect b="0" l="0" r="0" t="0"/>
          <a:stretch/>
        </p:blipFill>
        <p:spPr>
          <a:xfrm>
            <a:off x="666750" y="6105525"/>
            <a:ext cx="10858500" cy="276225"/>
          </a:xfrm>
          <a:prstGeom prst="rect">
            <a:avLst/>
          </a:prstGeom>
          <a:noFill/>
          <a:ln>
            <a:noFill/>
          </a:ln>
        </p:spPr>
      </p:pic>
      <p:sp>
        <p:nvSpPr>
          <p:cNvPr id="210" name="Google Shape;210;p19"/>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The Composable Safety Layer</a:t>
            </a:r>
            <a:endParaRPr/>
          </a:p>
        </p:txBody>
      </p:sp>
      <p:sp>
        <p:nvSpPr>
          <p:cNvPr id="211" name="Google Shape;211;p19"/>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19"/>
          <p:cNvSpPr txBox="1"/>
          <p:nvPr/>
        </p:nvSpPr>
        <p:spPr>
          <a:xfrm>
            <a:off x="666750" y="6257925"/>
            <a:ext cx="13525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10B981"/>
                </a:solidFill>
                <a:latin typeface="Lato"/>
                <a:ea typeface="Lato"/>
                <a:cs typeface="Lato"/>
                <a:sym typeface="Lato"/>
              </a:rPr>
              <a:t>FETCH.AI DEPLOYMENT</a:t>
            </a:r>
            <a:endParaRPr/>
          </a:p>
        </p:txBody>
      </p:sp>
      <p:sp>
        <p:nvSpPr>
          <p:cNvPr id="213" name="Google Shape;213;p19"/>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7 OF 8</a:t>
            </a:r>
            <a:endParaRPr/>
          </a:p>
        </p:txBody>
      </p:sp>
      <p:sp>
        <p:nvSpPr>
          <p:cNvPr id="214" name="Google Shape;214;p19"/>
          <p:cNvSpPr txBox="1"/>
          <p:nvPr/>
        </p:nvSpPr>
        <p:spPr>
          <a:xfrm>
            <a:off x="1295400" y="3019425"/>
            <a:ext cx="5163145"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Monolithic Mode</a:t>
            </a:r>
            <a:endParaRPr/>
          </a:p>
        </p:txBody>
      </p:sp>
      <p:sp>
        <p:nvSpPr>
          <p:cNvPr id="215" name="Google Shape;215;p19"/>
          <p:cNvSpPr txBox="1"/>
          <p:nvPr/>
        </p:nvSpPr>
        <p:spPr>
          <a:xfrm>
            <a:off x="962025" y="3514725"/>
            <a:ext cx="5250656"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Integrates the full LangGraph pipeline into a single uAgent deployment. Perfect for local hospitals and standalone clinics needing a simple, all-in-one local installation.</a:t>
            </a:r>
            <a:endParaRPr/>
          </a:p>
        </p:txBody>
      </p:sp>
      <p:sp>
        <p:nvSpPr>
          <p:cNvPr id="216" name="Google Shape;216;p19"/>
          <p:cNvSpPr txBox="1"/>
          <p:nvPr/>
        </p:nvSpPr>
        <p:spPr>
          <a:xfrm>
            <a:off x="962025" y="4057650"/>
            <a:ext cx="5250656"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Lato"/>
                <a:ea typeface="Lato"/>
                <a:cs typeface="Lato"/>
                <a:sym typeface="Lato"/>
              </a:rPr>
              <a:t>BEST FOR STANDALONE RESEARCH LABS</a:t>
            </a:r>
            <a:endParaRPr/>
          </a:p>
        </p:txBody>
      </p:sp>
      <p:sp>
        <p:nvSpPr>
          <p:cNvPr id="217" name="Google Shape;217;p19"/>
          <p:cNvSpPr txBox="1"/>
          <p:nvPr/>
        </p:nvSpPr>
        <p:spPr>
          <a:xfrm>
            <a:off x="7393781" y="3019425"/>
            <a:ext cx="4028003" cy="2857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3B82F6"/>
                </a:solidFill>
                <a:latin typeface="Poppins"/>
                <a:ea typeface="Poppins"/>
                <a:cs typeface="Poppins"/>
                <a:sym typeface="Poppins"/>
              </a:rPr>
              <a:t>Multi-Agent Mode</a:t>
            </a:r>
            <a:endParaRPr/>
          </a:p>
        </p:txBody>
      </p:sp>
      <p:sp>
        <p:nvSpPr>
          <p:cNvPr id="218" name="Google Shape;218;p19"/>
          <p:cNvSpPr txBox="1"/>
          <p:nvPr/>
        </p:nvSpPr>
        <p:spPr>
          <a:xfrm>
            <a:off x="7041356" y="3514725"/>
            <a:ext cx="4188618"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475569"/>
                </a:solidFill>
                <a:latin typeface="Lato"/>
                <a:ea typeface="Lato"/>
                <a:cs typeface="Lato"/>
                <a:sym typeface="Lato"/>
              </a:rPr>
              <a:t>Each pipeline stage acts as an independent specialist agent on the Agentverse. Other drug design, patient matching, or synthetic biology agents can invoke them directly.</a:t>
            </a:r>
            <a:endParaRPr/>
          </a:p>
        </p:txBody>
      </p:sp>
      <p:sp>
        <p:nvSpPr>
          <p:cNvPr id="219" name="Google Shape;219;p19"/>
          <p:cNvSpPr txBox="1"/>
          <p:nvPr/>
        </p:nvSpPr>
        <p:spPr>
          <a:xfrm>
            <a:off x="7041356" y="4257675"/>
            <a:ext cx="4188618"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3B82F6"/>
                </a:solidFill>
                <a:latin typeface="Lato"/>
                <a:ea typeface="Lato"/>
                <a:cs typeface="Lato"/>
                <a:sym typeface="Lato"/>
              </a:rPr>
              <a:t>BEST FOR BIOLOGICAL INFRASTRUCTURE NETWORKS</a:t>
            </a:r>
            <a:endParaRPr/>
          </a:p>
        </p:txBody>
      </p:sp>
      <p:pic>
        <p:nvPicPr>
          <p:cNvPr descr="image.png" id="220" name="Google Shape;220;p19"/>
          <p:cNvPicPr preferRelativeResize="0"/>
          <p:nvPr/>
        </p:nvPicPr>
        <p:blipFill rotWithShape="1">
          <a:blip r:embed="rId7">
            <a:alphaModFix/>
          </a:blip>
          <a:srcRect b="0" l="0" r="0" t="0"/>
          <a:stretch/>
        </p:blipFill>
        <p:spPr>
          <a:xfrm>
            <a:off x="962025" y="3067050"/>
            <a:ext cx="219075" cy="190500"/>
          </a:xfrm>
          <a:prstGeom prst="rect">
            <a:avLst/>
          </a:prstGeom>
          <a:noFill/>
          <a:ln>
            <a:noFill/>
          </a:ln>
        </p:spPr>
      </p:pic>
      <p:pic>
        <p:nvPicPr>
          <p:cNvPr descr="image.png" id="221" name="Google Shape;221;p19"/>
          <p:cNvPicPr preferRelativeResize="0"/>
          <p:nvPr/>
        </p:nvPicPr>
        <p:blipFill rotWithShape="1">
          <a:blip r:embed="rId8">
            <a:alphaModFix/>
          </a:blip>
          <a:srcRect b="0" l="0" r="0" t="0"/>
          <a:stretch/>
        </p:blipFill>
        <p:spPr>
          <a:xfrm>
            <a:off x="7041356" y="3067050"/>
            <a:ext cx="238125" cy="190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D19"/>
        </a:solidFill>
      </p:bgPr>
    </p:bg>
    <p:spTree>
      <p:nvGrpSpPr>
        <p:cNvPr id="225" name="Shape 225"/>
        <p:cNvGrpSpPr/>
        <p:nvPr/>
      </p:nvGrpSpPr>
      <p:grpSpPr>
        <a:xfrm>
          <a:off x="0" y="0"/>
          <a:ext cx="0" cy="0"/>
          <a:chOff x="0" y="0"/>
          <a:chExt cx="0" cy="0"/>
        </a:xfrm>
      </p:grpSpPr>
      <p:pic>
        <p:nvPicPr>
          <p:cNvPr descr="image.png" id="226" name="Google Shape;226;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7" name="Google Shape;227;p20"/>
          <p:cNvPicPr preferRelativeResize="0"/>
          <p:nvPr/>
        </p:nvPicPr>
        <p:blipFill rotWithShape="1">
          <a:blip r:embed="rId4">
            <a:alphaModFix/>
          </a:blip>
          <a:srcRect b="0" l="0" r="0" t="0"/>
          <a:stretch/>
        </p:blipFill>
        <p:spPr>
          <a:xfrm>
            <a:off x="666750" y="6105525"/>
            <a:ext cx="10858500" cy="276225"/>
          </a:xfrm>
          <a:prstGeom prst="rect">
            <a:avLst/>
          </a:prstGeom>
          <a:noFill/>
          <a:ln>
            <a:noFill/>
          </a:ln>
        </p:spPr>
      </p:pic>
      <p:pic>
        <p:nvPicPr>
          <p:cNvPr descr="image.png" id="228" name="Google Shape;228;p20"/>
          <p:cNvPicPr preferRelativeResize="0"/>
          <p:nvPr/>
        </p:nvPicPr>
        <p:blipFill rotWithShape="1">
          <a:blip r:embed="rId5">
            <a:alphaModFix/>
          </a:blip>
          <a:srcRect b="0" l="0" r="0" t="0"/>
          <a:stretch/>
        </p:blipFill>
        <p:spPr>
          <a:xfrm>
            <a:off x="666750" y="476250"/>
            <a:ext cx="2767012" cy="238125"/>
          </a:xfrm>
          <a:prstGeom prst="rect">
            <a:avLst/>
          </a:prstGeom>
          <a:noFill/>
          <a:ln>
            <a:noFill/>
          </a:ln>
        </p:spPr>
      </p:pic>
      <p:sp>
        <p:nvSpPr>
          <p:cNvPr id="229" name="Google Shape;229;p20"/>
          <p:cNvSpPr txBox="1"/>
          <p:nvPr/>
        </p:nvSpPr>
        <p:spPr>
          <a:xfrm>
            <a:off x="666750" y="6257925"/>
            <a:ext cx="7810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3B82F6"/>
                </a:solidFill>
                <a:latin typeface="Lato"/>
                <a:ea typeface="Lato"/>
                <a:cs typeface="Lato"/>
                <a:sym typeface="Lato"/>
              </a:rPr>
              <a:t>Q&amp;A SESSION</a:t>
            </a:r>
            <a:endParaRPr/>
          </a:p>
        </p:txBody>
      </p:sp>
      <p:sp>
        <p:nvSpPr>
          <p:cNvPr id="230" name="Google Shape;230;p20"/>
          <p:cNvSpPr txBox="1"/>
          <p:nvPr/>
        </p:nvSpPr>
        <p:spPr>
          <a:xfrm>
            <a:off x="10820400" y="6257925"/>
            <a:ext cx="704850"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Lato"/>
                <a:ea typeface="Lato"/>
                <a:cs typeface="Lato"/>
                <a:sym typeface="Lato"/>
              </a:rPr>
              <a:t>SLIDE 8 OF 8</a:t>
            </a:r>
            <a:endParaRPr/>
          </a:p>
        </p:txBody>
      </p:sp>
      <p:sp>
        <p:nvSpPr>
          <p:cNvPr id="231" name="Google Shape;231;p20"/>
          <p:cNvSpPr txBox="1"/>
          <p:nvPr/>
        </p:nvSpPr>
        <p:spPr>
          <a:xfrm>
            <a:off x="1845468" y="2495550"/>
            <a:ext cx="8501062" cy="8096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Poppins"/>
                <a:ea typeface="Poppins"/>
                <a:cs typeface="Poppins"/>
                <a:sym typeface="Poppins"/>
              </a:rPr>
              <a:t>Decentralized Safety API</a:t>
            </a:r>
            <a:endParaRPr/>
          </a:p>
        </p:txBody>
      </p:sp>
      <p:sp>
        <p:nvSpPr>
          <p:cNvPr id="232" name="Google Shape;232;p20"/>
          <p:cNvSpPr txBox="1"/>
          <p:nvPr/>
        </p:nvSpPr>
        <p:spPr>
          <a:xfrm>
            <a:off x="2047875" y="3448050"/>
            <a:ext cx="8096250"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94A3B8"/>
                </a:solidFill>
                <a:latin typeface="Lato"/>
                <a:ea typeface="Lato"/>
                <a:cs typeface="Lato"/>
                <a:sym typeface="Lato"/>
              </a:rPr>
              <a:t>Moving clinical safety screening from a late-stage manual bottleneck to an early-stage, patient-specific composable network primitive.</a:t>
            </a:r>
            <a:endParaRPr/>
          </a:p>
        </p:txBody>
      </p:sp>
      <p:pic>
        <p:nvPicPr>
          <p:cNvPr descr="image.png" id="233" name="Google Shape;233;p20"/>
          <p:cNvPicPr preferRelativeResize="0"/>
          <p:nvPr/>
        </p:nvPicPr>
        <p:blipFill rotWithShape="1">
          <a:blip r:embed="rId6">
            <a:alphaModFix/>
          </a:blip>
          <a:srcRect b="0" l="0" r="0" t="0"/>
          <a:stretch/>
        </p:blipFill>
        <p:spPr>
          <a:xfrm>
            <a:off x="3976687" y="4248150"/>
            <a:ext cx="4238625" cy="409575"/>
          </a:xfrm>
          <a:prstGeom prst="rect">
            <a:avLst/>
          </a:prstGeom>
          <a:noFill/>
          <a:ln>
            <a:noFill/>
          </a:ln>
        </p:spPr>
      </p:pic>
      <p:sp>
        <p:nvSpPr>
          <p:cNvPr id="234" name="Google Shape;234;p20"/>
          <p:cNvSpPr txBox="1"/>
          <p:nvPr/>
        </p:nvSpPr>
        <p:spPr>
          <a:xfrm>
            <a:off x="4414837" y="4371975"/>
            <a:ext cx="1838325" cy="16192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F8FAFC"/>
                </a:solidFill>
                <a:latin typeface="Lato"/>
                <a:ea typeface="Lato"/>
                <a:cs typeface="Lato"/>
                <a:sym typeface="Lato"/>
              </a:rPr>
              <a:t>github.com/multiscale-pipeline</a:t>
            </a:r>
            <a:endParaRPr/>
          </a:p>
        </p:txBody>
      </p:sp>
      <p:sp>
        <p:nvSpPr>
          <p:cNvPr id="235" name="Google Shape;235;p20"/>
          <p:cNvSpPr txBox="1"/>
          <p:nvPr/>
        </p:nvSpPr>
        <p:spPr>
          <a:xfrm>
            <a:off x="6700837" y="4371975"/>
            <a:ext cx="1266825" cy="16192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050" u="none" cap="none" strike="noStrike">
                <a:solidFill>
                  <a:srgbClr val="F8FAFC"/>
                </a:solidFill>
                <a:latin typeface="Lato"/>
                <a:ea typeface="Lato"/>
                <a:cs typeface="Lato"/>
                <a:sym typeface="Lato"/>
              </a:rPr>
              <a:t>agentverse.ai/registry</a:t>
            </a:r>
            <a:endParaRPr/>
          </a:p>
        </p:txBody>
      </p:sp>
      <p:pic>
        <p:nvPicPr>
          <p:cNvPr descr="image.png" id="236" name="Google Shape;236;p20"/>
          <p:cNvPicPr preferRelativeResize="0"/>
          <p:nvPr/>
        </p:nvPicPr>
        <p:blipFill rotWithShape="1">
          <a:blip r:embed="rId7">
            <a:alphaModFix/>
          </a:blip>
          <a:srcRect b="0" l="0" r="0" t="0"/>
          <a:stretch/>
        </p:blipFill>
        <p:spPr>
          <a:xfrm>
            <a:off x="4224337" y="4386262"/>
            <a:ext cx="114300" cy="133350"/>
          </a:xfrm>
          <a:prstGeom prst="rect">
            <a:avLst/>
          </a:prstGeom>
          <a:noFill/>
          <a:ln>
            <a:noFill/>
          </a:ln>
        </p:spPr>
      </p:pic>
      <p:pic>
        <p:nvPicPr>
          <p:cNvPr descr="image.png" id="237" name="Google Shape;237;p20"/>
          <p:cNvPicPr preferRelativeResize="0"/>
          <p:nvPr/>
        </p:nvPicPr>
        <p:blipFill rotWithShape="1">
          <a:blip r:embed="rId8">
            <a:alphaModFix/>
          </a:blip>
          <a:srcRect b="0" l="0" r="0" t="0"/>
          <a:stretch/>
        </p:blipFill>
        <p:spPr>
          <a:xfrm>
            <a:off x="6491287" y="4386262"/>
            <a:ext cx="133350" cy="133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1" name="Shape 241"/>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pic>
        <p:nvPicPr>
          <p:cNvPr descr="image.png" id="246" name="Google Shape;246;p22"/>
          <p:cNvPicPr preferRelativeResize="0"/>
          <p:nvPr/>
        </p:nvPicPr>
        <p:blipFill rotWithShape="1">
          <a:blip r:embed="rId3">
            <a:alphaModFix/>
          </a:blip>
          <a:srcRect b="0" l="0" r="0" t="0"/>
          <a:stretch/>
        </p:blipFill>
        <p:spPr>
          <a:xfrm>
            <a:off x="666750" y="3529012"/>
            <a:ext cx="857250" cy="476250"/>
          </a:xfrm>
          <a:prstGeom prst="rect">
            <a:avLst/>
          </a:prstGeom>
          <a:noFill/>
          <a:ln>
            <a:noFill/>
          </a:ln>
        </p:spPr>
      </p:pic>
      <p:sp>
        <p:nvSpPr>
          <p:cNvPr id="247" name="Google Shape;247;p22"/>
          <p:cNvSpPr txBox="1"/>
          <p:nvPr/>
        </p:nvSpPr>
        <p:spPr>
          <a:xfrm>
            <a:off x="1762125" y="3536156"/>
            <a:ext cx="97631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475569"/>
                </a:solidFill>
                <a:latin typeface="Lato"/>
                <a:ea typeface="Lato"/>
                <a:cs typeface="Lato"/>
                <a:sym typeface="Lato"/>
              </a:rPr>
              <a:t>https://miro.medium.com/v2/resize:fit:1400/1*z2Qe5oGbZY1dPcet4lyRlA.png</a:t>
            </a:r>
            <a:endParaRPr/>
          </a:p>
        </p:txBody>
      </p:sp>
      <p:sp>
        <p:nvSpPr>
          <p:cNvPr id="248" name="Google Shape;248;p22"/>
          <p:cNvSpPr txBox="1"/>
          <p:nvPr/>
        </p:nvSpPr>
        <p:spPr>
          <a:xfrm>
            <a:off x="1762125" y="3769518"/>
            <a:ext cx="97631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475569"/>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medium.com</a:t>
            </a:r>
            <a:endParaRPr/>
          </a:p>
        </p:txBody>
      </p:sp>
      <p:sp>
        <p:nvSpPr>
          <p:cNvPr id="249" name="Google Shape;249;p22"/>
          <p:cNvSpPr txBox="1"/>
          <p:nvPr/>
        </p:nvSpPr>
        <p:spPr>
          <a:xfrm>
            <a:off x="809625" y="476250"/>
            <a:ext cx="11251406"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0F172A"/>
                </a:solidFill>
                <a:latin typeface="Poppins"/>
                <a:ea typeface="Poppins"/>
                <a:cs typeface="Poppins"/>
                <a:sym typeface="Poppins"/>
              </a:rPr>
              <a:t>Image Sources</a:t>
            </a:r>
            <a:endParaRPr/>
          </a:p>
        </p:txBody>
      </p:sp>
      <p:sp>
        <p:nvSpPr>
          <p:cNvPr id="250" name="Google Shape;250;p22"/>
          <p:cNvSpPr/>
          <p:nvPr/>
        </p:nvSpPr>
        <p:spPr>
          <a:xfrm>
            <a:off x="666750" y="476250"/>
            <a:ext cx="47625" cy="4857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