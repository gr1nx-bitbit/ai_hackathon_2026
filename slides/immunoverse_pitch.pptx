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68" r:id="rId27"/>
    <p:sldId id="259" r:id="rId10"/>
    <p:sldId id="260" r:id="rId11"/>
    <p:sldId id="261" r:id="rId12"/>
    <p:sldId id="262" r:id="rId13"/>
    <p:sldId id="264" r:id="rId15"/>
    <p:sldId id="266" r:id="rId17"/>
  </p:sldIdLst>
  <p:sldSz cy="6858000" cx="12192000"/>
  <p:notesSz cx="6858000" cy="9144000"/>
  <p:embeddedFontLst>
    <p:embeddedFont>
      <p:font typeface="Arimo"/>
      <p:regular r:id="rId19"/>
      <p:bold r:id="rId20"/>
      <p:italic r:id="rId21"/>
      <p:boldItalic r:id="rId22"/>
    </p:embeddedFont>
    <p:embeddedFont>
      <p:font typeface="Azeret Mon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D8958ED-2221-4083-9D36-7151D0F89237}">
  <a:tblStyle styleId="{2D8958ED-2221-4083-9D36-7151D0F8923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font" Target="fonts/Arimo-regular.fntdata"/><Relationship Id="rId20" Type="http://schemas.openxmlformats.org/officeDocument/2006/relationships/font" Target="fonts/Arimo-bold.fntdata"/><Relationship Id="rId21" Type="http://schemas.openxmlformats.org/officeDocument/2006/relationships/font" Target="fonts/Arimo-italic.fntdata"/><Relationship Id="rId22" Type="http://schemas.openxmlformats.org/officeDocument/2006/relationships/font" Target="fonts/Arimo-boldItalic.fntdata"/><Relationship Id="rId23" Type="http://schemas.openxmlformats.org/officeDocument/2006/relationships/font" Target="fonts/AzeretMono-regular.fntdata"/><Relationship Id="rId24" Type="http://schemas.openxmlformats.org/officeDocument/2006/relationships/font" Target="fonts/AzeretMono-bold.fntdata"/><Relationship Id="rId25" Type="http://schemas.openxmlformats.org/officeDocument/2006/relationships/font" Target="fonts/AzeretMono-italic.fntdata"/><Relationship Id="rId26" Type="http://schemas.openxmlformats.org/officeDocument/2006/relationships/font" Target="fonts/AzeretMono-boldItalic.fntdata"/><Relationship Id="rId27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11.png"/><Relationship Id="rId8" Type="http://schemas.openxmlformats.org/officeDocument/2006/relationships/image" Target="../media/image14.png"/><Relationship Id="rId9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Relationship Id="rId5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2157412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64748B"/>
                </a:solidFill>
                <a:latin typeface="Azeret Mono"/>
                <a:ea typeface="Azeret Mono"/>
                <a:cs typeface="Azeret Mono"/>
                <a:sym typeface="Azeret Mono"/>
              </a:rPr>
              <a:t>HACKATHON PROJECT SUBMISSION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2614612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ImmunoVerse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3643312"/>
            <a:ext cx="7620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>
                <a:solidFill>
                  <a:srgbClr val="64748B"/>
                </a:solidFill>
              </a:rPr>
              <a:t>Gene therapy safety screening as a composable network service.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571500" y="3272730"/>
            <a:ext cx="523875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$150K+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571500" y="4606230"/>
            <a:ext cx="5238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Azeret Mono"/>
                <a:ea typeface="Azeret Mono"/>
                <a:cs typeface="Azeret Mono"/>
                <a:sym typeface="Azeret Mono"/>
              </a:rPr>
              <a:t>Typical Preclinical Run Cost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6381750" y="2705992"/>
            <a:ext cx="550068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Slow, Invasive, and Expensive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381750" y="3153667"/>
            <a:ext cx="5238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Building a genetic edit takes 48 hours in a wet lab. But waiting for the human adaptive immune cascade to react takes weeks or months.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381750" y="4153792"/>
            <a:ext cx="52387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Current safety checks are a bottleneck. They rely on labor-intensive procedures and invasive sampling, leading to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90% drug failure rates</a:t>
            </a:r>
            <a:r>
              <a:rPr b="0" i="0" lang="en-US" sz="15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in human trials because we miss signals early on.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88761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The Efficiency Problem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571500" y="145911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4" name="Google Shape;1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482155"/>
            <a:ext cx="5238750" cy="2628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491680"/>
            <a:ext cx="52197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571500" y="2482155"/>
            <a:ext cx="550068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Great tools, but they don't talk.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571500" y="2929830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The industry already has powerful in silico tools (AlphaFold, IEDB, BepiPred). However, they exist in "isolated biopsies":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571500" y="4949130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When data is siloed, you can't run a holistic simulation of cell dynamics.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885825" y="3653730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952500" y="3653730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Idiosyncratic file formats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885825" y="4082355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952500" y="4082355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Scattered, unlinked databases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85825" y="4510980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952500" y="4510980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One-off retrieval scripts</a:t>
            </a:r>
            <a:endParaRPr/>
          </a:p>
        </p:txBody>
      </p:sp>
      <p:pic>
        <p:nvPicPr>
          <p:cNvPr descr="image.png" id="116" name="Google Shape;11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86550" y="2786955"/>
            <a:ext cx="46291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686550" y="3358455"/>
            <a:ext cx="486060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The "Old City" Problem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686550" y="3806130"/>
            <a:ext cx="46291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Navigating bio-data today is like driving a modern car (AI agents) through an old city designed before roads. The infrastructure wasn't built for interoperability.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571500" y="88761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The Fragmentation Reality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571500" y="145911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63080"/>
            <a:ext cx="523875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272605"/>
            <a:ext cx="521970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6381750" y="2263080"/>
            <a:ext cx="550068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1E293B"/>
                </a:solidFill>
              </a:rPr>
              <a:t>A Composable Agent Network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6381750" y="2710755"/>
            <a:ext cx="5238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475569"/>
                </a:solidFill>
              </a:rPr>
              <a:t>7 specialist agents deployed on Fetch.ai Agentverse. Each is independently addressable — any researcher or system can call a single stage without running the full pipeline.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381750" y="3710880"/>
            <a:ext cx="5238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475569"/>
                </a:solidFill>
              </a:rPr>
              <a:t>Orchestrator → Stage 1 (ESMFold) → Stage 2 (HLA/IEDB) → Stage 3a (NetTCR) + Stage 3b (BepiPred) → Stage 4 (GenBio AIDO) → Report
Or skip the orchestrator. Call Stage 2 directly. Your choice.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571500" y="88761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900" b="1">
                <a:solidFill>
                  <a:srgbClr val="1E293B"/>
                </a:solidFill>
              </a:rPr>
              <a:t>7 Agents. Any One Callable.</a:t>
            </a:r>
            <a:endParaRPr/>
          </a:p>
        </p:txBody>
      </p:sp>
      <p:sp>
        <p:nvSpPr>
          <p:cNvPr id="132" name="Google Shape;132;p16"/>
          <p:cNvSpPr/>
          <p:nvPr/>
        </p:nvSpPr>
        <p:spPr>
          <a:xfrm>
            <a:off x="571500" y="145911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/>
          <p:nvPr/>
        </p:nvSpPr>
        <p:spPr>
          <a:xfrm>
            <a:off x="571500" y="407283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1710630" y="4234755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510733" y="2644080"/>
            <a:ext cx="255219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1. Shape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571500" y="2986980"/>
            <a:ext cx="24306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ESMFold: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Inspects the protein blueprint (shape) to ensure the structure is viable.</a:t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4583310" y="4234755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3383413" y="2644080"/>
            <a:ext cx="255219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2. ID Check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3444180" y="2986980"/>
            <a:ext cx="24306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IEDB: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Cross-references the therapy against a registry of known immune triggers.</a:t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7455991" y="4234755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6256094" y="2644080"/>
            <a:ext cx="255219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3. Defense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6316860" y="2986980"/>
            <a:ext cx="24306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BepiPred: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Screens for linear B-cell epitopes to predict antibody attacks.</a:t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10328671" y="4234755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9128774" y="2644080"/>
            <a:ext cx="255219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4. Engine Test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9189541" y="2986980"/>
            <a:ext cx="24306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GenBio AIDO: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Systems-level cellular dynamics to ensure the cell doesn't crash.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571500" y="88761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The 4-Stage Action Gauntlet</a:t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571500" y="145911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82155"/>
            <a:ext cx="3492549" cy="3181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482155"/>
            <a:ext cx="3492549" cy="3181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482155"/>
            <a:ext cx="3492549" cy="3181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777430"/>
            <a:ext cx="29019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866775" y="3348930"/>
            <a:ext cx="304709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Swappable Nodes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866775" y="3796605"/>
            <a:ext cx="2901999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If ESMFold gets a version 3.0 update or a better model emerges, we simply swap the agent. No software stack rebuild required.</a:t>
            </a:r>
            <a:endParaRPr/>
          </a:p>
        </p:txBody>
      </p:sp>
      <p:pic>
        <p:nvPicPr>
          <p:cNvPr descr="image.png" id="164" name="Google Shape;164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777430"/>
            <a:ext cx="29019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4645074" y="3348930"/>
            <a:ext cx="304709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Data Agnostic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4645074" y="3796605"/>
            <a:ext cx="2901999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As biological databases evolve to be more "agent-friendly," our network automatically benefits from improved accuracy in real-time.</a:t>
            </a:r>
            <a:endParaRPr/>
          </a:p>
        </p:txBody>
      </p:sp>
      <p:pic>
        <p:nvPicPr>
          <p:cNvPr descr="image.png" id="167" name="Google Shape;167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777430"/>
            <a:ext cx="29019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8423374" y="3348930"/>
            <a:ext cx="304709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Future-Proof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8423374" y="3796605"/>
            <a:ext cx="290199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Decentralization prevents vendor lock-in. Individual specialists can be unplugged and upgraded as science moves forward.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571500" y="88761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Why "Composable" is Better</a:t>
            </a: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571500" y="145911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59160"/>
            <a:ext cx="11049000" cy="4427339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571500" y="4572892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*Traditional costs include reagents, lab time, and animal models. ImmunoVerse costs reflect decentralized API compute usage.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571500" y="88761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The Economic Shift</a:t>
            </a:r>
            <a:endParaRPr/>
          </a:p>
        </p:txBody>
      </p:sp>
      <p:sp>
        <p:nvSpPr>
          <p:cNvPr id="180" name="Google Shape;180;p19"/>
          <p:cNvSpPr/>
          <p:nvPr/>
        </p:nvSpPr>
        <p:spPr>
          <a:xfrm>
            <a:off x="571500" y="145911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/>
        </p:nvSpPr>
        <p:spPr>
          <a:xfrm>
            <a:off x="571500" y="1928812"/>
            <a:ext cx="52006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The Mandatory "Engine Test"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571500" y="2928937"/>
            <a:ext cx="4953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You can't skip Stage 4. Even if the protein shape is perfect, introducing novel code alters the underlying Gene Regulatory Network (GRN).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571500" y="3929062"/>
            <a:ext cx="4953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Systems Biology: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We model how the therapy interacts with the whole cell, not just the single target. This is the difference between checking a part and testing the engine.</a:t>
            </a:r>
            <a:endParaRPr/>
          </a:p>
        </p:txBody>
      </p:sp>
      <p:pic>
        <p:nvPicPr>
          <p:cNvPr descr="image.png" id="189" name="Google Shape;18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0" y="2405955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33525" y="2415480"/>
            <a:ext cx="11334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 txBox="1"/>
          <p:nvPr/>
        </p:nvSpPr>
        <p:spPr>
          <a:xfrm>
            <a:off x="6381750" y="2848867"/>
            <a:ext cx="550068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Addressing Bias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6381750" y="3296542"/>
            <a:ext cx="5238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Existing registries (like IEDB) have massive training bias toward European demographics. This is a life-and-death engineering flaw.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6381750" y="4296667"/>
            <a:ext cx="5238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Because ImmunoVerse is modular, we can plug in regional specialist agents as better global data sets become available—instantly improving equity across the stack.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571500" y="88761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Handling Data Realities</a:t>
            </a:r>
            <a:endParaRPr/>
          </a:p>
        </p:txBody>
      </p:sp>
      <p:sp>
        <p:nvSpPr>
          <p:cNvPr id="201" name="Google Shape;201;p21"/>
          <p:cNvSpPr/>
          <p:nvPr/>
        </p:nvSpPr>
        <p:spPr>
          <a:xfrm>
            <a:off x="571500" y="145911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6" name="Google Shape;20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7" name="Google Shape;207;p22"/>
          <p:cNvGraphicFramePr/>
          <p:nvPr/>
        </p:nvGraphicFramePr>
        <p:xfrm>
          <a:off x="571500" y="29345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{2D8958ED-2221-4083-9D36-7151D0F89237}</a:tableStyleId>
              </a:tblPr>
              <a:tblGrid>
                <a:gridCol w="2753925"/>
                <a:gridCol w="2737250"/>
                <a:gridCol w="5557825"/>
              </a:tblGrid>
              <a:tr h="49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E293B"/>
                          </a:solidFill>
                          <a:latin typeface="Azeret Mono"/>
                          <a:ea typeface="Azeret Mono"/>
                          <a:cs typeface="Azeret Mono"/>
                          <a:sym typeface="Azeret Mono"/>
                        </a:rPr>
                        <a:t>Component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E293B"/>
                          </a:solidFill>
                          <a:latin typeface="Azeret Mono"/>
                          <a:ea typeface="Azeret Mono"/>
                          <a:cs typeface="Azeret Mono"/>
                          <a:sym typeface="Azeret Mono"/>
                        </a:rPr>
                        <a:t>Technology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E293B"/>
                          </a:solidFill>
                          <a:latin typeface="Azeret Mono"/>
                          <a:ea typeface="Azeret Mono"/>
                          <a:cs typeface="Azeret Mono"/>
                          <a:sym typeface="Azeret Mono"/>
                        </a:rPr>
                        <a:t>Status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9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Orchestrator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Fetch.ai uAgents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Operational (Agentverse)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Protein Folding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ESMFold Agent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Live API Node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Immune Registry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IEDB Integration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Functional Registry Query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Cell Dynamics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GenBio AI AIDO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Architectural Mock / Integration Ready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8" name="Google Shape;208;p22"/>
          <p:cNvSpPr/>
          <p:nvPr/>
        </p:nvSpPr>
        <p:spPr>
          <a:xfrm>
            <a:off x="571500" y="3391792"/>
            <a:ext cx="275391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3325415" y="3391792"/>
            <a:ext cx="2737246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6062662" y="3391792"/>
            <a:ext cx="5557837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571500" y="3901380"/>
            <a:ext cx="275391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3325415" y="3901380"/>
            <a:ext cx="273724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6062662" y="3901380"/>
            <a:ext cx="555783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571500" y="4396680"/>
            <a:ext cx="275391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3325415" y="4396680"/>
            <a:ext cx="273724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6062662" y="4396680"/>
            <a:ext cx="555783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571500" y="4891980"/>
            <a:ext cx="275391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3325415" y="4891980"/>
            <a:ext cx="273724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6062662" y="4891980"/>
            <a:ext cx="555783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571500" y="5387280"/>
            <a:ext cx="275391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2"/>
          <p:cNvSpPr/>
          <p:nvPr/>
        </p:nvSpPr>
        <p:spPr>
          <a:xfrm>
            <a:off x="3325415" y="5387280"/>
            <a:ext cx="273724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6062662" y="5387280"/>
            <a:ext cx="555783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2"/>
          <p:cNvSpPr txBox="1"/>
          <p:nvPr/>
        </p:nvSpPr>
        <p:spPr>
          <a:xfrm>
            <a:off x="571500" y="88761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Project Readiness</a:t>
            </a:r>
            <a:endParaRPr/>
          </a:p>
        </p:txBody>
      </p:sp>
      <p:sp>
        <p:nvSpPr>
          <p:cNvPr id="224" name="Google Shape;224;p22"/>
          <p:cNvSpPr/>
          <p:nvPr/>
        </p:nvSpPr>
        <p:spPr>
          <a:xfrm>
            <a:off x="571500" y="145911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9" name="Google Shape;22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43587" y="1719262"/>
            <a:ext cx="50482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3"/>
          <p:cNvSpPr txBox="1"/>
          <p:nvPr/>
        </p:nvSpPr>
        <p:spPr>
          <a:xfrm>
            <a:off x="1060370" y="2576512"/>
            <a:ext cx="10071258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The Composable Primitive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2286000" y="3414712"/>
            <a:ext cx="7620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475569"/>
                </a:solidFill>
              </a:rPr>
              <a:t>Stage 2 is a standalone HLA binding service on Agentverse right now.
Send it a sequence. Get a binding prediction back in seconds.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2667000" y="4681537"/>
            <a:ext cx="6858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4748B"/>
                </a:solidFill>
              </a:rPr>
              <a:t>QUESTIONS?  HERE'S THE AGENTVERSE ADDRESS.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4"/>
          <p:cNvSpPr/>
          <p:nvPr/>
        </p:nvSpPr>
        <p:spPr>
          <a:xfrm>
            <a:off x="571500" y="2748855"/>
            <a:ext cx="11049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4"/>
          <p:cNvSpPr/>
          <p:nvPr/>
        </p:nvSpPr>
        <p:spPr>
          <a:xfrm>
            <a:off x="571500" y="3691830"/>
            <a:ext cx="11049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4"/>
          <p:cNvSpPr/>
          <p:nvPr/>
        </p:nvSpPr>
        <p:spPr>
          <a:xfrm>
            <a:off x="571500" y="368230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4"/>
          <p:cNvSpPr/>
          <p:nvPr/>
        </p:nvSpPr>
        <p:spPr>
          <a:xfrm>
            <a:off x="571500" y="368230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4"/>
          <p:cNvSpPr/>
          <p:nvPr/>
        </p:nvSpPr>
        <p:spPr>
          <a:xfrm>
            <a:off x="571500" y="462528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4"/>
          <p:cNvSpPr/>
          <p:nvPr/>
        </p:nvSpPr>
        <p:spPr>
          <a:xfrm>
            <a:off x="571500" y="462528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5" name="Google Shape;24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7745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4"/>
          <p:cNvSpPr txBox="1"/>
          <p:nvPr/>
        </p:nvSpPr>
        <p:spPr>
          <a:xfrm>
            <a:off x="1666875" y="2891730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https://media.istockphoto.com/id/1309776504/photo/female-research-scientist-with-bioengineer-working-on-a-personal-computer-with-screen-showing.jpg?s=612x612&amp;w=0&amp;k=20&amp;c=FBI79EWdoWHailbTGvQWBBYOiOfx7owZLWuNnQxuDqo=</a:t>
            </a:r>
            <a:endParaRPr/>
          </a:p>
        </p:txBody>
      </p:sp>
      <p:sp>
        <p:nvSpPr>
          <p:cNvPr id="247" name="Google Shape;247;p24"/>
          <p:cNvSpPr txBox="1"/>
          <p:nvPr/>
        </p:nvSpPr>
        <p:spPr>
          <a:xfrm>
            <a:off x="1666875" y="3310830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Arimo"/>
                <a:ea typeface="Arimo"/>
                <a:cs typeface="Arimo"/>
                <a:sym typeface="Arimo"/>
              </a:rPr>
              <a:t>www.istockphoto.com</a:t>
            </a:r>
            <a:endParaRPr/>
          </a:p>
        </p:txBody>
      </p:sp>
      <p:pic>
        <p:nvPicPr>
          <p:cNvPr descr="image.png" id="248" name="Google Shape;24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92043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4"/>
          <p:cNvSpPr txBox="1"/>
          <p:nvPr/>
        </p:nvSpPr>
        <p:spPr>
          <a:xfrm>
            <a:off x="1666875" y="3834705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https://static.vecteezy.com/system/resources/previews/057/274/608/large_2x/abstract-neuron-network-visualization-with-glowing-connections-in-electric-blue-hues-against-a-dark-background-representing-the-human-brain-free-photo.jpg</a:t>
            </a:r>
            <a:endParaRPr/>
          </a:p>
        </p:txBody>
      </p:sp>
      <p:sp>
        <p:nvSpPr>
          <p:cNvPr id="250" name="Google Shape;250;p24"/>
          <p:cNvSpPr txBox="1"/>
          <p:nvPr/>
        </p:nvSpPr>
        <p:spPr>
          <a:xfrm>
            <a:off x="1666875" y="4253805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Arimo"/>
                <a:ea typeface="Arimo"/>
                <a:cs typeface="Arimo"/>
                <a:sym typeface="Arimo"/>
              </a:rPr>
              <a:t>www.vecteezy.com</a:t>
            </a:r>
            <a:endParaRPr/>
          </a:p>
        </p:txBody>
      </p:sp>
      <p:pic>
        <p:nvPicPr>
          <p:cNvPr descr="image.png" id="251" name="Google Shape;251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77768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4"/>
          <p:cNvSpPr txBox="1"/>
          <p:nvPr/>
        </p:nvSpPr>
        <p:spPr>
          <a:xfrm>
            <a:off x="1666875" y="4784824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https://upload.wikimedia.org/wikipedia/commons/thumb/2/2a/Human_faces.jpg/1280px-Human_faces.jpg</a:t>
            </a:r>
            <a:endParaRPr/>
          </a:p>
        </p:txBody>
      </p:sp>
      <p:sp>
        <p:nvSpPr>
          <p:cNvPr id="253" name="Google Shape;253;p24"/>
          <p:cNvSpPr txBox="1"/>
          <p:nvPr/>
        </p:nvSpPr>
        <p:spPr>
          <a:xfrm>
            <a:off x="1666875" y="501818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Arimo"/>
                <a:ea typeface="Arimo"/>
                <a:cs typeface="Arimo"/>
                <a:sym typeface="Arimo"/>
              </a:rPr>
              <a:t>en.wikipedia.org</a:t>
            </a:r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571500" y="88761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Image Sources</a:t>
            </a:r>
            <a:endParaRPr/>
          </a:p>
        </p:txBody>
      </p:sp>
      <p:sp>
        <p:nvSpPr>
          <p:cNvPr id="255" name="Google Shape;255;p24"/>
          <p:cNvSpPr/>
          <p:nvPr/>
        </p:nvSpPr>
        <p:spPr>
          <a:xfrm>
            <a:off x="571500" y="145911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4" name="Google Shape;104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482155"/>
            <a:ext cx="5238750" cy="2628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91275" y="2491680"/>
            <a:ext cx="52197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571500" y="2482155"/>
            <a:ext cx="550068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1E293B"/>
                </a:solidFill>
              </a:rPr>
              <a:t>Three Researchers. One Message.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571500" y="2929830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475569"/>
                </a:solidFill>
              </a:rPr>
              <a:t>Before ImmunoVerse: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571500" y="4949130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475569"/>
                </a:solidFill>
              </a:rPr>
              <a:t>Dr. Chen's 3 years of HLA expertise — now a callable network service. No integration. No file formats. Just an address.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885825" y="3653730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952500" y="3653730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475569"/>
                </a:solidFill>
              </a:rPr>
              <a:t>Dr. Chen: IEDB HLA binding — manual CSV exports, 2 days per candidate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885825" y="4082355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952500" y="4082355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475569"/>
                </a:solidFill>
              </a:rPr>
              <a:t>Dr. Kim: NetTCR T-cell models — Jupyter notebook, no public API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85825" y="4510980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952500" y="4510980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475569"/>
                </a:solidFill>
              </a:rPr>
              <a:t>Dr. Patel: needs both, right now — emails, waits days, reformats data</a:t>
            </a:r>
            <a:endParaRPr/>
          </a:p>
        </p:txBody>
      </p:sp>
      <p:pic>
        <p:nvPicPr>
          <p:cNvPr descr="image.png" id="116" name="Google Shape;11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86550" y="2786955"/>
            <a:ext cx="46291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686550" y="3358455"/>
            <a:ext cx="486060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1E293B"/>
                </a:solidFill>
              </a:rPr>
              <a:t>With ImmunoVerse on Agentverse: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686550" y="3806130"/>
            <a:ext cx="46291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475569"/>
                </a:solidFill>
              </a:rPr>
              <a:t>Dr. Patel sends ONE message to one Agentverse address. All 4 stages run in parallel. Results in seconds.
→  Dr. Chen's HLA work: a callable service
→  Dr. Kim's TCR work: a callable service
→  Stage 2 is live on Agentverse right now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571500" y="88761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900" b="1">
                <a:solidFill>
                  <a:srgbClr val="1E293B"/>
                </a:solidFill>
              </a:rPr>
              <a:t>The Composability Moment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571500" y="145911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