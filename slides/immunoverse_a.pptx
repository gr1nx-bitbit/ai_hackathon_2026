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y="6858000" cx="12192000"/>
  <p:notesSz cx="6858000" cy="9144000"/>
  <p:embeddedFontLst>
    <p:embeddedFont>
      <p:font typeface="Arimo"/>
      <p:regular r:id="rId19"/>
      <p:bold r:id="rId20"/>
      <p:italic r:id="rId21"/>
      <p:boldItalic r:id="rId22"/>
    </p:embeddedFont>
    <p:embeddedFont>
      <p:font typeface="Azeret Mono"/>
      <p:regular r:id="rId23"/>
      <p:bold r:id="rId24"/>
      <p:italic r:id="rId25"/>
      <p:boldItalic r:id="rId2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2D8958ED-2221-4083-9D36-7151D0F89237}">
  <a:tblStyle styleId="{2D8958ED-2221-4083-9D36-7151D0F89237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fill>
          <a:solidFill>
            <a:srgbClr val="CFD7E7"/>
          </a:solidFill>
        </a:fill>
      </a:tcStyle>
    </a:band1H>
    <a:band2H>
      <a:tcTxStyle/>
    </a:band2H>
    <a:band1V>
      <a:tcTxStyle/>
      <a:tcStyle>
        <a:fill>
          <a:solidFill>
            <a:srgbClr val="CFD7E7"/>
          </a:solidFill>
        </a:fill>
      </a:tcStyle>
    </a:band1V>
    <a:band2V>
      <a:tcTxStyle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Arimo-bold.fntdata"/><Relationship Id="rId22" Type="http://schemas.openxmlformats.org/officeDocument/2006/relationships/font" Target="fonts/Arimo-boldItalic.fntdata"/><Relationship Id="rId21" Type="http://schemas.openxmlformats.org/officeDocument/2006/relationships/font" Target="fonts/Arimo-italic.fntdata"/><Relationship Id="rId24" Type="http://schemas.openxmlformats.org/officeDocument/2006/relationships/font" Target="fonts/AzeretMono-bold.fntdata"/><Relationship Id="rId23" Type="http://schemas.openxmlformats.org/officeDocument/2006/relationships/font" Target="fonts/AzeretMono-regular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font" Target="fonts/AzeretMono-boldItalic.fntdata"/><Relationship Id="rId25" Type="http://schemas.openxmlformats.org/officeDocument/2006/relationships/font" Target="fonts/AzeretMono-italic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font" Target="fonts/Arimo-regular.fntdata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" name="Google Shape;155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" name="Google Shape;174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" name="Google Shape;183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" name="Google Shape;192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4" name="Google Shape;204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7" name="Google Shape;227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6" name="Google Shape;236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2.png"/><Relationship Id="rId4" Type="http://schemas.openxmlformats.org/officeDocument/2006/relationships/image" Target="../media/image6.png"/><Relationship Id="rId5" Type="http://schemas.openxmlformats.org/officeDocument/2006/relationships/image" Target="../media/image10.png"/><Relationship Id="rId6" Type="http://schemas.openxmlformats.org/officeDocument/2006/relationships/image" Target="../media/image5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2.png"/><Relationship Id="rId4" Type="http://schemas.openxmlformats.org/officeDocument/2006/relationships/image" Target="../media/image1.png"/><Relationship Id="rId5" Type="http://schemas.openxmlformats.org/officeDocument/2006/relationships/image" Target="../media/image7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2.png"/><Relationship Id="rId4" Type="http://schemas.openxmlformats.org/officeDocument/2006/relationships/image" Target="../media/image2.png"/><Relationship Id="rId9" Type="http://schemas.openxmlformats.org/officeDocument/2006/relationships/image" Target="../media/image9.png"/><Relationship Id="rId5" Type="http://schemas.openxmlformats.org/officeDocument/2006/relationships/image" Target="../media/image4.png"/><Relationship Id="rId6" Type="http://schemas.openxmlformats.org/officeDocument/2006/relationships/image" Target="../media/image8.png"/><Relationship Id="rId7" Type="http://schemas.openxmlformats.org/officeDocument/2006/relationships/image" Target="../media/image11.png"/><Relationship Id="rId8" Type="http://schemas.openxmlformats.org/officeDocument/2006/relationships/image" Target="../media/image14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2.png"/><Relationship Id="rId4" Type="http://schemas.openxmlformats.org/officeDocument/2006/relationships/image" Target="../media/image3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2.png"/><Relationship Id="rId4" Type="http://schemas.openxmlformats.org/officeDocument/2006/relationships/image" Target="../media/image16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2.png"/><Relationship Id="rId4" Type="http://schemas.openxmlformats.org/officeDocument/2006/relationships/image" Target="../media/image15.png"/><Relationship Id="rId5" Type="http://schemas.openxmlformats.org/officeDocument/2006/relationships/image" Target="../media/image13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2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2.png"/><Relationship Id="rId4" Type="http://schemas.openxmlformats.org/officeDocument/2006/relationships/image" Target="../media/image20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2.png"/><Relationship Id="rId4" Type="http://schemas.openxmlformats.org/officeDocument/2006/relationships/image" Target="../media/image17.png"/><Relationship Id="rId5" Type="http://schemas.openxmlformats.org/officeDocument/2006/relationships/image" Target="../media/image18.png"/><Relationship Id="rId6" Type="http://schemas.openxmlformats.org/officeDocument/2006/relationships/image" Target="../media/image19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DFCF0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4" name="Google Shape;8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3"/>
          <p:cNvSpPr txBox="1"/>
          <p:nvPr/>
        </p:nvSpPr>
        <p:spPr>
          <a:xfrm>
            <a:off x="571500" y="2157412"/>
            <a:ext cx="11049000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64748B"/>
                </a:solidFill>
                <a:latin typeface="Azeret Mono"/>
                <a:ea typeface="Azeret Mono"/>
                <a:cs typeface="Azeret Mono"/>
                <a:sym typeface="Azeret Mono"/>
              </a:rPr>
              <a:t>HACKATHON PROJECT SUBMISSION</a:t>
            </a:r>
            <a:endParaRPr/>
          </a:p>
        </p:txBody>
      </p:sp>
      <p:sp>
        <p:nvSpPr>
          <p:cNvPr id="86" name="Google Shape;86;p13"/>
          <p:cNvSpPr txBox="1"/>
          <p:nvPr/>
        </p:nvSpPr>
        <p:spPr>
          <a:xfrm>
            <a:off x="571500" y="2614612"/>
            <a:ext cx="11601450" cy="8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000" u="none" cap="none" strike="noStrike">
                <a:solidFill>
                  <a:srgbClr val="1E293B"/>
                </a:solidFill>
                <a:latin typeface="Arimo"/>
                <a:ea typeface="Arimo"/>
                <a:cs typeface="Arimo"/>
                <a:sym typeface="Arimo"/>
              </a:rPr>
              <a:t>ImmunoVerse</a:t>
            </a:r>
            <a:endParaRPr/>
          </a:p>
        </p:txBody>
      </p:sp>
      <p:sp>
        <p:nvSpPr>
          <p:cNvPr id="87" name="Google Shape;87;p13"/>
          <p:cNvSpPr txBox="1"/>
          <p:nvPr/>
        </p:nvSpPr>
        <p:spPr>
          <a:xfrm>
            <a:off x="571500" y="3643312"/>
            <a:ext cx="76200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64748B"/>
                </a:solidFill>
                <a:latin typeface="Arimo"/>
                <a:ea typeface="Arimo"/>
                <a:cs typeface="Arimo"/>
                <a:sym typeface="Arimo"/>
              </a:rPr>
              <a:t>A decentralized agent network for patient-specific gene therapy safety screenings.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DFCF0"/>
        </a:solidFill>
      </p:bgPr>
    </p:bg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92" name="Google Shape;92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93" name="Google Shape;93;p14"/>
          <p:cNvSpPr txBox="1"/>
          <p:nvPr/>
        </p:nvSpPr>
        <p:spPr>
          <a:xfrm>
            <a:off x="571500" y="3272730"/>
            <a:ext cx="5238750" cy="1333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0" u="none" cap="none" strike="noStrike">
                <a:solidFill>
                  <a:srgbClr val="1E293B"/>
                </a:solidFill>
                <a:latin typeface="Arimo"/>
                <a:ea typeface="Arimo"/>
                <a:cs typeface="Arimo"/>
                <a:sym typeface="Arimo"/>
              </a:rPr>
              <a:t>$150K+</a:t>
            </a:r>
            <a:endParaRPr/>
          </a:p>
        </p:txBody>
      </p:sp>
      <p:sp>
        <p:nvSpPr>
          <p:cNvPr id="94" name="Google Shape;94;p14"/>
          <p:cNvSpPr txBox="1"/>
          <p:nvPr/>
        </p:nvSpPr>
        <p:spPr>
          <a:xfrm>
            <a:off x="571500" y="4606230"/>
            <a:ext cx="523875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64748B"/>
                </a:solidFill>
                <a:latin typeface="Azeret Mono"/>
                <a:ea typeface="Azeret Mono"/>
                <a:cs typeface="Azeret Mono"/>
                <a:sym typeface="Azeret Mono"/>
              </a:rPr>
              <a:t>Typical Preclinical Run Cost</a:t>
            </a:r>
            <a:endParaRPr/>
          </a:p>
        </p:txBody>
      </p:sp>
      <p:sp>
        <p:nvSpPr>
          <p:cNvPr id="95" name="Google Shape;95;p14"/>
          <p:cNvSpPr txBox="1"/>
          <p:nvPr/>
        </p:nvSpPr>
        <p:spPr>
          <a:xfrm>
            <a:off x="6381750" y="2705992"/>
            <a:ext cx="5500687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1E293B"/>
                </a:solidFill>
                <a:latin typeface="Arimo"/>
                <a:ea typeface="Arimo"/>
                <a:cs typeface="Arimo"/>
                <a:sym typeface="Arimo"/>
              </a:rPr>
              <a:t>Slow, Invasive, and Expensive</a:t>
            </a:r>
            <a:endParaRPr/>
          </a:p>
        </p:txBody>
      </p:sp>
      <p:sp>
        <p:nvSpPr>
          <p:cNvPr id="96" name="Google Shape;96;p14"/>
          <p:cNvSpPr txBox="1"/>
          <p:nvPr/>
        </p:nvSpPr>
        <p:spPr>
          <a:xfrm>
            <a:off x="6381750" y="3153667"/>
            <a:ext cx="5238750" cy="857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Arimo"/>
                <a:ea typeface="Arimo"/>
                <a:cs typeface="Arimo"/>
                <a:sym typeface="Arimo"/>
              </a:rPr>
              <a:t>Building a genetic edit takes 48 hours in a wet lab. But waiting for the human adaptive immune cascade to react takes weeks or months.</a:t>
            </a:r>
            <a:endParaRPr/>
          </a:p>
        </p:txBody>
      </p:sp>
      <p:sp>
        <p:nvSpPr>
          <p:cNvPr id="97" name="Google Shape;97;p14"/>
          <p:cNvSpPr txBox="1"/>
          <p:nvPr/>
        </p:nvSpPr>
        <p:spPr>
          <a:xfrm>
            <a:off x="6381750" y="4153792"/>
            <a:ext cx="523875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Arimo"/>
                <a:ea typeface="Arimo"/>
                <a:cs typeface="Arimo"/>
                <a:sym typeface="Arimo"/>
              </a:rPr>
              <a:t>Current safety checks are a bottleneck. They rely on labor-intensive procedures and invasive sampling, leading to </a:t>
            </a:r>
            <a:r>
              <a:rPr b="1" i="0" lang="en-US" sz="1500" u="none" cap="none" strike="noStrike">
                <a:solidFill>
                  <a:srgbClr val="475569"/>
                </a:solidFill>
                <a:latin typeface="Arimo"/>
                <a:ea typeface="Arimo"/>
                <a:cs typeface="Arimo"/>
                <a:sym typeface="Arimo"/>
              </a:rPr>
              <a:t>90% drug failure rates</a:t>
            </a:r>
            <a:r>
              <a:rPr b="0" i="0" lang="en-US" sz="1500" u="none" cap="none" strike="noStrike">
                <a:solidFill>
                  <a:srgbClr val="475569"/>
                </a:solidFill>
                <a:latin typeface="Arimo"/>
                <a:ea typeface="Arimo"/>
                <a:cs typeface="Arimo"/>
                <a:sym typeface="Arimo"/>
              </a:rPr>
              <a:t> in human trials because we miss signals early on.</a:t>
            </a:r>
            <a:endParaRPr/>
          </a:p>
        </p:txBody>
      </p:sp>
      <p:sp>
        <p:nvSpPr>
          <p:cNvPr id="98" name="Google Shape;98;p14"/>
          <p:cNvSpPr txBox="1"/>
          <p:nvPr/>
        </p:nvSpPr>
        <p:spPr>
          <a:xfrm>
            <a:off x="571500" y="887610"/>
            <a:ext cx="11601450" cy="4476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1E293B"/>
                </a:solidFill>
                <a:latin typeface="Arimo"/>
                <a:ea typeface="Arimo"/>
                <a:cs typeface="Arimo"/>
                <a:sym typeface="Arimo"/>
              </a:rPr>
              <a:t>The Efficiency Problem</a:t>
            </a:r>
            <a:endParaRPr/>
          </a:p>
        </p:txBody>
      </p:sp>
      <p:sp>
        <p:nvSpPr>
          <p:cNvPr id="99" name="Google Shape;99;p14"/>
          <p:cNvSpPr/>
          <p:nvPr/>
        </p:nvSpPr>
        <p:spPr>
          <a:xfrm>
            <a:off x="571500" y="1459110"/>
            <a:ext cx="1104900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DFCF0"/>
        </a:solidFill>
      </p:bgPr>
    </p:bg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04" name="Google Shape;104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5" name="Google Shape;105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81750" y="2482155"/>
            <a:ext cx="5238750" cy="26289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6" name="Google Shape;106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91275" y="2491680"/>
            <a:ext cx="5219700" cy="2609850"/>
          </a:xfrm>
          <a:prstGeom prst="rect">
            <a:avLst/>
          </a:prstGeom>
          <a:noFill/>
          <a:ln>
            <a:noFill/>
          </a:ln>
        </p:spPr>
      </p:pic>
      <p:sp>
        <p:nvSpPr>
          <p:cNvPr id="107" name="Google Shape;107;p15"/>
          <p:cNvSpPr txBox="1"/>
          <p:nvPr/>
        </p:nvSpPr>
        <p:spPr>
          <a:xfrm>
            <a:off x="571500" y="2482155"/>
            <a:ext cx="5500687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1E293B"/>
                </a:solidFill>
                <a:latin typeface="Arimo"/>
                <a:ea typeface="Arimo"/>
                <a:cs typeface="Arimo"/>
                <a:sym typeface="Arimo"/>
              </a:rPr>
              <a:t>Great tools, but they don't talk.</a:t>
            </a:r>
            <a:endParaRPr/>
          </a:p>
        </p:txBody>
      </p:sp>
      <p:sp>
        <p:nvSpPr>
          <p:cNvPr id="108" name="Google Shape;108;p15"/>
          <p:cNvSpPr txBox="1"/>
          <p:nvPr/>
        </p:nvSpPr>
        <p:spPr>
          <a:xfrm>
            <a:off x="571500" y="2929830"/>
            <a:ext cx="523875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Arimo"/>
                <a:ea typeface="Arimo"/>
                <a:cs typeface="Arimo"/>
                <a:sym typeface="Arimo"/>
              </a:rPr>
              <a:t>The industry already has powerful in silico tools (AlphaFold, IEDB, BepiPred). However, they exist in "isolated biopsies":</a:t>
            </a:r>
            <a:endParaRPr/>
          </a:p>
        </p:txBody>
      </p:sp>
      <p:sp>
        <p:nvSpPr>
          <p:cNvPr id="109" name="Google Shape;109;p15"/>
          <p:cNvSpPr txBox="1"/>
          <p:nvPr/>
        </p:nvSpPr>
        <p:spPr>
          <a:xfrm>
            <a:off x="571500" y="4949130"/>
            <a:ext cx="523875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Arimo"/>
                <a:ea typeface="Arimo"/>
                <a:cs typeface="Arimo"/>
                <a:sym typeface="Arimo"/>
              </a:rPr>
              <a:t>When data is siloed, you can't run a holistic simulation of cell dynamics.</a:t>
            </a:r>
            <a:endParaRPr/>
          </a:p>
        </p:txBody>
      </p:sp>
      <p:sp>
        <p:nvSpPr>
          <p:cNvPr id="110" name="Google Shape;110;p15"/>
          <p:cNvSpPr txBox="1"/>
          <p:nvPr/>
        </p:nvSpPr>
        <p:spPr>
          <a:xfrm>
            <a:off x="885825" y="3653730"/>
            <a:ext cx="66675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Arimo"/>
                <a:ea typeface="Arimo"/>
                <a:cs typeface="Arimo"/>
                <a:sym typeface="Arimo"/>
              </a:rPr>
              <a:t>•</a:t>
            </a:r>
            <a:endParaRPr/>
          </a:p>
        </p:txBody>
      </p:sp>
      <p:sp>
        <p:nvSpPr>
          <p:cNvPr id="111" name="Google Shape;111;p15"/>
          <p:cNvSpPr txBox="1"/>
          <p:nvPr/>
        </p:nvSpPr>
        <p:spPr>
          <a:xfrm>
            <a:off x="952500" y="3653730"/>
            <a:ext cx="485775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66675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Arimo"/>
                <a:ea typeface="Arimo"/>
                <a:cs typeface="Arimo"/>
                <a:sym typeface="Arimo"/>
              </a:rPr>
              <a:t>Idiosyncratic file formats</a:t>
            </a:r>
            <a:endParaRPr/>
          </a:p>
        </p:txBody>
      </p:sp>
      <p:sp>
        <p:nvSpPr>
          <p:cNvPr id="112" name="Google Shape;112;p15"/>
          <p:cNvSpPr txBox="1"/>
          <p:nvPr/>
        </p:nvSpPr>
        <p:spPr>
          <a:xfrm>
            <a:off x="885825" y="4082355"/>
            <a:ext cx="66675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Arimo"/>
                <a:ea typeface="Arimo"/>
                <a:cs typeface="Arimo"/>
                <a:sym typeface="Arimo"/>
              </a:rPr>
              <a:t>•</a:t>
            </a:r>
            <a:endParaRPr/>
          </a:p>
        </p:txBody>
      </p:sp>
      <p:sp>
        <p:nvSpPr>
          <p:cNvPr id="113" name="Google Shape;113;p15"/>
          <p:cNvSpPr txBox="1"/>
          <p:nvPr/>
        </p:nvSpPr>
        <p:spPr>
          <a:xfrm>
            <a:off x="952500" y="4082355"/>
            <a:ext cx="485775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66675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Arimo"/>
                <a:ea typeface="Arimo"/>
                <a:cs typeface="Arimo"/>
                <a:sym typeface="Arimo"/>
              </a:rPr>
              <a:t>Scattered, unlinked databases</a:t>
            </a:r>
            <a:endParaRPr/>
          </a:p>
        </p:txBody>
      </p:sp>
      <p:sp>
        <p:nvSpPr>
          <p:cNvPr id="114" name="Google Shape;114;p15"/>
          <p:cNvSpPr txBox="1"/>
          <p:nvPr/>
        </p:nvSpPr>
        <p:spPr>
          <a:xfrm>
            <a:off x="885825" y="4510980"/>
            <a:ext cx="66675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Arimo"/>
                <a:ea typeface="Arimo"/>
                <a:cs typeface="Arimo"/>
                <a:sym typeface="Arimo"/>
              </a:rPr>
              <a:t>•</a:t>
            </a:r>
            <a:endParaRPr/>
          </a:p>
        </p:txBody>
      </p:sp>
      <p:sp>
        <p:nvSpPr>
          <p:cNvPr id="115" name="Google Shape;115;p15"/>
          <p:cNvSpPr txBox="1"/>
          <p:nvPr/>
        </p:nvSpPr>
        <p:spPr>
          <a:xfrm>
            <a:off x="952500" y="4510980"/>
            <a:ext cx="485775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66675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Arimo"/>
                <a:ea typeface="Arimo"/>
                <a:cs typeface="Arimo"/>
                <a:sym typeface="Arimo"/>
              </a:rPr>
              <a:t>One-off retrieval scripts</a:t>
            </a:r>
            <a:endParaRPr/>
          </a:p>
        </p:txBody>
      </p:sp>
      <p:pic>
        <p:nvPicPr>
          <p:cNvPr descr="image.png" id="116" name="Google Shape;116;p1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686550" y="2786955"/>
            <a:ext cx="462915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15"/>
          <p:cNvSpPr txBox="1"/>
          <p:nvPr/>
        </p:nvSpPr>
        <p:spPr>
          <a:xfrm>
            <a:off x="6686550" y="3358455"/>
            <a:ext cx="4860607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1E293B"/>
                </a:solidFill>
                <a:latin typeface="Arimo"/>
                <a:ea typeface="Arimo"/>
                <a:cs typeface="Arimo"/>
                <a:sym typeface="Arimo"/>
              </a:rPr>
              <a:t>The "Old City" Problem</a:t>
            </a:r>
            <a:endParaRPr/>
          </a:p>
        </p:txBody>
      </p:sp>
      <p:sp>
        <p:nvSpPr>
          <p:cNvPr id="118" name="Google Shape;118;p15"/>
          <p:cNvSpPr txBox="1"/>
          <p:nvPr/>
        </p:nvSpPr>
        <p:spPr>
          <a:xfrm>
            <a:off x="6686550" y="3806130"/>
            <a:ext cx="4629150" cy="857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Arimo"/>
                <a:ea typeface="Arimo"/>
                <a:cs typeface="Arimo"/>
                <a:sym typeface="Arimo"/>
              </a:rPr>
              <a:t>Navigating bio-data today is like driving a modern car (AI agents) through an old city designed before roads. The infrastructure wasn't built for interoperability.</a:t>
            </a:r>
            <a:endParaRPr/>
          </a:p>
        </p:txBody>
      </p:sp>
      <p:sp>
        <p:nvSpPr>
          <p:cNvPr id="119" name="Google Shape;119;p15"/>
          <p:cNvSpPr txBox="1"/>
          <p:nvPr/>
        </p:nvSpPr>
        <p:spPr>
          <a:xfrm>
            <a:off x="571500" y="887610"/>
            <a:ext cx="11601450" cy="4476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1E293B"/>
                </a:solidFill>
                <a:latin typeface="Arimo"/>
                <a:ea typeface="Arimo"/>
                <a:cs typeface="Arimo"/>
                <a:sym typeface="Arimo"/>
              </a:rPr>
              <a:t>The Fragmentation Reality</a:t>
            </a:r>
            <a:endParaRPr/>
          </a:p>
        </p:txBody>
      </p:sp>
      <p:sp>
        <p:nvSpPr>
          <p:cNvPr id="120" name="Google Shape;120;p15"/>
          <p:cNvSpPr/>
          <p:nvPr/>
        </p:nvSpPr>
        <p:spPr>
          <a:xfrm>
            <a:off x="571500" y="1459110"/>
            <a:ext cx="1104900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DFCF0"/>
        </a:solidFill>
      </p:bgPr>
    </p:bg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25" name="Google Shape;125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6" name="Google Shape;126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263080"/>
            <a:ext cx="5238750" cy="3619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7" name="Google Shape;127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81025" y="2272605"/>
            <a:ext cx="5219700" cy="3600450"/>
          </a:xfrm>
          <a:prstGeom prst="rect">
            <a:avLst/>
          </a:prstGeom>
          <a:noFill/>
          <a:ln>
            <a:noFill/>
          </a:ln>
        </p:spPr>
      </p:pic>
      <p:sp>
        <p:nvSpPr>
          <p:cNvPr id="128" name="Google Shape;128;p16"/>
          <p:cNvSpPr txBox="1"/>
          <p:nvPr/>
        </p:nvSpPr>
        <p:spPr>
          <a:xfrm>
            <a:off x="6381750" y="2263080"/>
            <a:ext cx="5500687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1E293B"/>
                </a:solidFill>
                <a:latin typeface="Arimo"/>
                <a:ea typeface="Arimo"/>
                <a:cs typeface="Arimo"/>
                <a:sym typeface="Arimo"/>
              </a:rPr>
              <a:t>A Team of Autonomous Agents</a:t>
            </a:r>
            <a:endParaRPr/>
          </a:p>
        </p:txBody>
      </p:sp>
      <p:sp>
        <p:nvSpPr>
          <p:cNvPr id="129" name="Google Shape;129;p16"/>
          <p:cNvSpPr txBox="1"/>
          <p:nvPr/>
        </p:nvSpPr>
        <p:spPr>
          <a:xfrm>
            <a:off x="6381750" y="2710755"/>
            <a:ext cx="5238750" cy="857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Arimo"/>
                <a:ea typeface="Arimo"/>
                <a:cs typeface="Arimo"/>
                <a:sym typeface="Arimo"/>
              </a:rPr>
              <a:t>Built on the </a:t>
            </a:r>
            <a:r>
              <a:rPr b="1" i="0" lang="en-US" sz="1500" u="none" cap="none" strike="noStrike">
                <a:solidFill>
                  <a:srgbClr val="475569"/>
                </a:solidFill>
                <a:latin typeface="Arimo"/>
                <a:ea typeface="Arimo"/>
                <a:cs typeface="Arimo"/>
                <a:sym typeface="Arimo"/>
              </a:rPr>
              <a:t>Fetch.ai Agentverse</a:t>
            </a:r>
            <a:r>
              <a:rPr b="0" i="0" lang="en-US" sz="1500" u="none" cap="none" strike="noStrike">
                <a:solidFill>
                  <a:srgbClr val="475569"/>
                </a:solidFill>
                <a:latin typeface="Arimo"/>
                <a:ea typeface="Arimo"/>
                <a:cs typeface="Arimo"/>
                <a:sym typeface="Arimo"/>
              </a:rPr>
              <a:t>, ImmunoVerse isn't just one software script. It’s a decentralized network of specialized "minds" collaborating in seconds.</a:t>
            </a:r>
            <a:endParaRPr/>
          </a:p>
        </p:txBody>
      </p:sp>
      <p:sp>
        <p:nvSpPr>
          <p:cNvPr id="130" name="Google Shape;130;p16"/>
          <p:cNvSpPr txBox="1"/>
          <p:nvPr/>
        </p:nvSpPr>
        <p:spPr>
          <a:xfrm>
            <a:off x="6381750" y="3710880"/>
            <a:ext cx="5238750" cy="857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Arimo"/>
                <a:ea typeface="Arimo"/>
                <a:cs typeface="Arimo"/>
                <a:sym typeface="Arimo"/>
              </a:rPr>
              <a:t>Each agent acts as a specialist in the safety gauntlet, ensuring no therapy moves to a wet lab without a systems-level screening.</a:t>
            </a:r>
            <a:endParaRPr/>
          </a:p>
        </p:txBody>
      </p:sp>
      <p:sp>
        <p:nvSpPr>
          <p:cNvPr id="131" name="Google Shape;131;p16"/>
          <p:cNvSpPr txBox="1"/>
          <p:nvPr/>
        </p:nvSpPr>
        <p:spPr>
          <a:xfrm>
            <a:off x="571500" y="887610"/>
            <a:ext cx="11601450" cy="4476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1E293B"/>
                </a:solidFill>
                <a:latin typeface="Arimo"/>
                <a:ea typeface="Arimo"/>
                <a:cs typeface="Arimo"/>
                <a:sym typeface="Arimo"/>
              </a:rPr>
              <a:t>The ImmunoVerse Approach</a:t>
            </a:r>
            <a:endParaRPr/>
          </a:p>
        </p:txBody>
      </p:sp>
      <p:sp>
        <p:nvSpPr>
          <p:cNvPr id="132" name="Google Shape;132;p16"/>
          <p:cNvSpPr/>
          <p:nvPr/>
        </p:nvSpPr>
        <p:spPr>
          <a:xfrm>
            <a:off x="571500" y="1459110"/>
            <a:ext cx="1104900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DFCF0"/>
        </a:solidFill>
      </p:bgPr>
    </p:bg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37" name="Google Shape;137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8" name="Google Shape;138;p17"/>
          <p:cNvSpPr/>
          <p:nvPr/>
        </p:nvSpPr>
        <p:spPr>
          <a:xfrm>
            <a:off x="571500" y="4072830"/>
            <a:ext cx="1104900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17"/>
          <p:cNvSpPr/>
          <p:nvPr/>
        </p:nvSpPr>
        <p:spPr>
          <a:xfrm>
            <a:off x="1710630" y="4234755"/>
            <a:ext cx="152400" cy="152400"/>
          </a:xfrm>
          <a:prstGeom prst="roundRect">
            <a:avLst>
              <a:gd fmla="val 50000" name="adj"/>
            </a:avLst>
          </a:prstGeom>
          <a:solidFill>
            <a:srgbClr val="1E29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17"/>
          <p:cNvSpPr txBox="1"/>
          <p:nvPr/>
        </p:nvSpPr>
        <p:spPr>
          <a:xfrm>
            <a:off x="510733" y="2644080"/>
            <a:ext cx="2552193" cy="247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1E293B"/>
                </a:solidFill>
                <a:latin typeface="Arimo"/>
                <a:ea typeface="Arimo"/>
                <a:cs typeface="Arimo"/>
                <a:sym typeface="Arimo"/>
              </a:rPr>
              <a:t>1. Shape</a:t>
            </a:r>
            <a:endParaRPr/>
          </a:p>
        </p:txBody>
      </p:sp>
      <p:sp>
        <p:nvSpPr>
          <p:cNvPr id="141" name="Google Shape;141;p17"/>
          <p:cNvSpPr txBox="1"/>
          <p:nvPr/>
        </p:nvSpPr>
        <p:spPr>
          <a:xfrm>
            <a:off x="571500" y="2986980"/>
            <a:ext cx="243066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475569"/>
                </a:solidFill>
                <a:latin typeface="Arimo"/>
                <a:ea typeface="Arimo"/>
                <a:cs typeface="Arimo"/>
                <a:sym typeface="Arimo"/>
              </a:rPr>
              <a:t>ESMFold:</a:t>
            </a:r>
            <a:r>
              <a:rPr b="0" i="0" lang="en-US" sz="1200" u="none" cap="none" strike="noStrike">
                <a:solidFill>
                  <a:srgbClr val="475569"/>
                </a:solidFill>
                <a:latin typeface="Arimo"/>
                <a:ea typeface="Arimo"/>
                <a:cs typeface="Arimo"/>
                <a:sym typeface="Arimo"/>
              </a:rPr>
              <a:t> Inspects the protein blueprint (shape) to ensure the structure is viable.</a:t>
            </a:r>
            <a:endParaRPr/>
          </a:p>
        </p:txBody>
      </p:sp>
      <p:sp>
        <p:nvSpPr>
          <p:cNvPr id="142" name="Google Shape;142;p17"/>
          <p:cNvSpPr/>
          <p:nvPr/>
        </p:nvSpPr>
        <p:spPr>
          <a:xfrm>
            <a:off x="4583310" y="4234755"/>
            <a:ext cx="152400" cy="152400"/>
          </a:xfrm>
          <a:prstGeom prst="roundRect">
            <a:avLst>
              <a:gd fmla="val 50000" name="adj"/>
            </a:avLst>
          </a:prstGeom>
          <a:solidFill>
            <a:srgbClr val="1E29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17"/>
          <p:cNvSpPr txBox="1"/>
          <p:nvPr/>
        </p:nvSpPr>
        <p:spPr>
          <a:xfrm>
            <a:off x="3383413" y="2644080"/>
            <a:ext cx="2552193" cy="247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1E293B"/>
                </a:solidFill>
                <a:latin typeface="Arimo"/>
                <a:ea typeface="Arimo"/>
                <a:cs typeface="Arimo"/>
                <a:sym typeface="Arimo"/>
              </a:rPr>
              <a:t>2. ID Check</a:t>
            </a:r>
            <a:endParaRPr/>
          </a:p>
        </p:txBody>
      </p:sp>
      <p:sp>
        <p:nvSpPr>
          <p:cNvPr id="144" name="Google Shape;144;p17"/>
          <p:cNvSpPr txBox="1"/>
          <p:nvPr/>
        </p:nvSpPr>
        <p:spPr>
          <a:xfrm>
            <a:off x="3444180" y="2986980"/>
            <a:ext cx="243066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475569"/>
                </a:solidFill>
                <a:latin typeface="Arimo"/>
                <a:ea typeface="Arimo"/>
                <a:cs typeface="Arimo"/>
                <a:sym typeface="Arimo"/>
              </a:rPr>
              <a:t>IEDB:</a:t>
            </a:r>
            <a:r>
              <a:rPr b="0" i="0" lang="en-US" sz="1200" u="none" cap="none" strike="noStrike">
                <a:solidFill>
                  <a:srgbClr val="475569"/>
                </a:solidFill>
                <a:latin typeface="Arimo"/>
                <a:ea typeface="Arimo"/>
                <a:cs typeface="Arimo"/>
                <a:sym typeface="Arimo"/>
              </a:rPr>
              <a:t> Cross-references the therapy against a registry of known immune triggers.</a:t>
            </a:r>
            <a:endParaRPr/>
          </a:p>
        </p:txBody>
      </p:sp>
      <p:sp>
        <p:nvSpPr>
          <p:cNvPr id="145" name="Google Shape;145;p17"/>
          <p:cNvSpPr/>
          <p:nvPr/>
        </p:nvSpPr>
        <p:spPr>
          <a:xfrm>
            <a:off x="7455991" y="4234755"/>
            <a:ext cx="152400" cy="152400"/>
          </a:xfrm>
          <a:prstGeom prst="roundRect">
            <a:avLst>
              <a:gd fmla="val 50000" name="adj"/>
            </a:avLst>
          </a:prstGeom>
          <a:solidFill>
            <a:srgbClr val="1E29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17"/>
          <p:cNvSpPr txBox="1"/>
          <p:nvPr/>
        </p:nvSpPr>
        <p:spPr>
          <a:xfrm>
            <a:off x="6256094" y="2644080"/>
            <a:ext cx="2552193" cy="247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1E293B"/>
                </a:solidFill>
                <a:latin typeface="Arimo"/>
                <a:ea typeface="Arimo"/>
                <a:cs typeface="Arimo"/>
                <a:sym typeface="Arimo"/>
              </a:rPr>
              <a:t>3. Defense</a:t>
            </a:r>
            <a:endParaRPr/>
          </a:p>
        </p:txBody>
      </p:sp>
      <p:sp>
        <p:nvSpPr>
          <p:cNvPr id="147" name="Google Shape;147;p17"/>
          <p:cNvSpPr txBox="1"/>
          <p:nvPr/>
        </p:nvSpPr>
        <p:spPr>
          <a:xfrm>
            <a:off x="6316860" y="2986980"/>
            <a:ext cx="24306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475569"/>
                </a:solidFill>
                <a:latin typeface="Arimo"/>
                <a:ea typeface="Arimo"/>
                <a:cs typeface="Arimo"/>
                <a:sym typeface="Arimo"/>
              </a:rPr>
              <a:t>BepiPred:</a:t>
            </a:r>
            <a:r>
              <a:rPr b="0" i="0" lang="en-US" sz="1200" u="none" cap="none" strike="noStrike">
                <a:solidFill>
                  <a:srgbClr val="475569"/>
                </a:solidFill>
                <a:latin typeface="Arimo"/>
                <a:ea typeface="Arimo"/>
                <a:cs typeface="Arimo"/>
                <a:sym typeface="Arimo"/>
              </a:rPr>
              <a:t> Screens for linear B-cell epitopes to predict antibody attacks.</a:t>
            </a:r>
            <a:endParaRPr/>
          </a:p>
        </p:txBody>
      </p:sp>
      <p:sp>
        <p:nvSpPr>
          <p:cNvPr id="148" name="Google Shape;148;p17"/>
          <p:cNvSpPr/>
          <p:nvPr/>
        </p:nvSpPr>
        <p:spPr>
          <a:xfrm>
            <a:off x="10328671" y="4234755"/>
            <a:ext cx="152400" cy="152400"/>
          </a:xfrm>
          <a:prstGeom prst="roundRect">
            <a:avLst>
              <a:gd fmla="val 50000" name="adj"/>
            </a:avLst>
          </a:prstGeom>
          <a:solidFill>
            <a:srgbClr val="1E29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17"/>
          <p:cNvSpPr txBox="1"/>
          <p:nvPr/>
        </p:nvSpPr>
        <p:spPr>
          <a:xfrm>
            <a:off x="9128774" y="2644080"/>
            <a:ext cx="2552193" cy="247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1E293B"/>
                </a:solidFill>
                <a:latin typeface="Arimo"/>
                <a:ea typeface="Arimo"/>
                <a:cs typeface="Arimo"/>
                <a:sym typeface="Arimo"/>
              </a:rPr>
              <a:t>4. Engine Test</a:t>
            </a:r>
            <a:endParaRPr/>
          </a:p>
        </p:txBody>
      </p:sp>
      <p:sp>
        <p:nvSpPr>
          <p:cNvPr id="150" name="Google Shape;150;p17"/>
          <p:cNvSpPr txBox="1"/>
          <p:nvPr/>
        </p:nvSpPr>
        <p:spPr>
          <a:xfrm>
            <a:off x="9189541" y="2986980"/>
            <a:ext cx="243066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475569"/>
                </a:solidFill>
                <a:latin typeface="Arimo"/>
                <a:ea typeface="Arimo"/>
                <a:cs typeface="Arimo"/>
                <a:sym typeface="Arimo"/>
              </a:rPr>
              <a:t>GenBio AIDO:</a:t>
            </a:r>
            <a:r>
              <a:rPr b="0" i="0" lang="en-US" sz="1200" u="none" cap="none" strike="noStrike">
                <a:solidFill>
                  <a:srgbClr val="475569"/>
                </a:solidFill>
                <a:latin typeface="Arimo"/>
                <a:ea typeface="Arimo"/>
                <a:cs typeface="Arimo"/>
                <a:sym typeface="Arimo"/>
              </a:rPr>
              <a:t> Systems-level cellular dynamics to ensure the cell doesn't crash.</a:t>
            </a:r>
            <a:endParaRPr/>
          </a:p>
        </p:txBody>
      </p:sp>
      <p:sp>
        <p:nvSpPr>
          <p:cNvPr id="151" name="Google Shape;151;p17"/>
          <p:cNvSpPr txBox="1"/>
          <p:nvPr/>
        </p:nvSpPr>
        <p:spPr>
          <a:xfrm>
            <a:off x="571500" y="887610"/>
            <a:ext cx="11601450" cy="4476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1E293B"/>
                </a:solidFill>
                <a:latin typeface="Arimo"/>
                <a:ea typeface="Arimo"/>
                <a:cs typeface="Arimo"/>
                <a:sym typeface="Arimo"/>
              </a:rPr>
              <a:t>The 4-Stage Action Gauntlet</a:t>
            </a:r>
            <a:endParaRPr/>
          </a:p>
        </p:txBody>
      </p:sp>
      <p:sp>
        <p:nvSpPr>
          <p:cNvPr id="152" name="Google Shape;152;p17"/>
          <p:cNvSpPr/>
          <p:nvPr/>
        </p:nvSpPr>
        <p:spPr>
          <a:xfrm>
            <a:off x="571500" y="1459110"/>
            <a:ext cx="1104900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DFCF0"/>
        </a:solidFill>
      </p:bgPr>
    </p:bg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57" name="Google Shape;157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8" name="Google Shape;158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482155"/>
            <a:ext cx="3492549" cy="31813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9" name="Google Shape;159;p1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49799" y="2482155"/>
            <a:ext cx="3492549" cy="31813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0" name="Google Shape;160;p1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128099" y="2482155"/>
            <a:ext cx="3492549" cy="31813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1" name="Google Shape;161;p18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66775" y="2777430"/>
            <a:ext cx="2901999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2" name="Google Shape;162;p18"/>
          <p:cNvSpPr txBox="1"/>
          <p:nvPr/>
        </p:nvSpPr>
        <p:spPr>
          <a:xfrm>
            <a:off x="866775" y="3348930"/>
            <a:ext cx="3047099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1E293B"/>
                </a:solidFill>
                <a:latin typeface="Arimo"/>
                <a:ea typeface="Arimo"/>
                <a:cs typeface="Arimo"/>
                <a:sym typeface="Arimo"/>
              </a:rPr>
              <a:t>Swappable Nodes</a:t>
            </a:r>
            <a:endParaRPr/>
          </a:p>
        </p:txBody>
      </p:sp>
      <p:sp>
        <p:nvSpPr>
          <p:cNvPr id="163" name="Google Shape;163;p18"/>
          <p:cNvSpPr txBox="1"/>
          <p:nvPr/>
        </p:nvSpPr>
        <p:spPr>
          <a:xfrm>
            <a:off x="866775" y="3796605"/>
            <a:ext cx="2901999" cy="1428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Arimo"/>
                <a:ea typeface="Arimo"/>
                <a:cs typeface="Arimo"/>
                <a:sym typeface="Arimo"/>
              </a:rPr>
              <a:t>If ESMFold gets a version 3.0 update or a better model emerges, we simply swap the agent. No software stack rebuild required.</a:t>
            </a:r>
            <a:endParaRPr/>
          </a:p>
        </p:txBody>
      </p:sp>
      <p:pic>
        <p:nvPicPr>
          <p:cNvPr descr="image.png" id="164" name="Google Shape;164;p18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4645074" y="2777430"/>
            <a:ext cx="2901999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5" name="Google Shape;165;p18"/>
          <p:cNvSpPr txBox="1"/>
          <p:nvPr/>
        </p:nvSpPr>
        <p:spPr>
          <a:xfrm>
            <a:off x="4645074" y="3348930"/>
            <a:ext cx="3047099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1E293B"/>
                </a:solidFill>
                <a:latin typeface="Arimo"/>
                <a:ea typeface="Arimo"/>
                <a:cs typeface="Arimo"/>
                <a:sym typeface="Arimo"/>
              </a:rPr>
              <a:t>Data Agnostic</a:t>
            </a:r>
            <a:endParaRPr/>
          </a:p>
        </p:txBody>
      </p:sp>
      <p:sp>
        <p:nvSpPr>
          <p:cNvPr id="166" name="Google Shape;166;p18"/>
          <p:cNvSpPr txBox="1"/>
          <p:nvPr/>
        </p:nvSpPr>
        <p:spPr>
          <a:xfrm>
            <a:off x="4645074" y="3796605"/>
            <a:ext cx="2901999" cy="1428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Arimo"/>
                <a:ea typeface="Arimo"/>
                <a:cs typeface="Arimo"/>
                <a:sym typeface="Arimo"/>
              </a:rPr>
              <a:t>As biological databases evolve to be more "agent-friendly," our network automatically benefits from improved accuracy in real-time.</a:t>
            </a:r>
            <a:endParaRPr/>
          </a:p>
        </p:txBody>
      </p:sp>
      <p:pic>
        <p:nvPicPr>
          <p:cNvPr descr="image.png" id="167" name="Google Shape;167;p18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8423374" y="2777430"/>
            <a:ext cx="2901999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8" name="Google Shape;168;p18"/>
          <p:cNvSpPr txBox="1"/>
          <p:nvPr/>
        </p:nvSpPr>
        <p:spPr>
          <a:xfrm>
            <a:off x="8423374" y="3348930"/>
            <a:ext cx="3047099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1E293B"/>
                </a:solidFill>
                <a:latin typeface="Arimo"/>
                <a:ea typeface="Arimo"/>
                <a:cs typeface="Arimo"/>
                <a:sym typeface="Arimo"/>
              </a:rPr>
              <a:t>Future-Proof</a:t>
            </a:r>
            <a:endParaRPr/>
          </a:p>
        </p:txBody>
      </p:sp>
      <p:sp>
        <p:nvSpPr>
          <p:cNvPr id="169" name="Google Shape;169;p18"/>
          <p:cNvSpPr txBox="1"/>
          <p:nvPr/>
        </p:nvSpPr>
        <p:spPr>
          <a:xfrm>
            <a:off x="8423374" y="3796605"/>
            <a:ext cx="2901999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Arimo"/>
                <a:ea typeface="Arimo"/>
                <a:cs typeface="Arimo"/>
                <a:sym typeface="Arimo"/>
              </a:rPr>
              <a:t>Decentralization prevents vendor lock-in. Individual specialists can be unplugged and upgraded as science moves forward.</a:t>
            </a:r>
            <a:endParaRPr/>
          </a:p>
        </p:txBody>
      </p:sp>
      <p:sp>
        <p:nvSpPr>
          <p:cNvPr id="170" name="Google Shape;170;p18"/>
          <p:cNvSpPr txBox="1"/>
          <p:nvPr/>
        </p:nvSpPr>
        <p:spPr>
          <a:xfrm>
            <a:off x="571500" y="887610"/>
            <a:ext cx="11601450" cy="4476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1E293B"/>
                </a:solidFill>
                <a:latin typeface="Arimo"/>
                <a:ea typeface="Arimo"/>
                <a:cs typeface="Arimo"/>
                <a:sym typeface="Arimo"/>
              </a:rPr>
              <a:t>Why "Composable" is Better</a:t>
            </a:r>
            <a:endParaRPr/>
          </a:p>
        </p:txBody>
      </p:sp>
      <p:sp>
        <p:nvSpPr>
          <p:cNvPr id="171" name="Google Shape;171;p18"/>
          <p:cNvSpPr/>
          <p:nvPr/>
        </p:nvSpPr>
        <p:spPr>
          <a:xfrm>
            <a:off x="571500" y="1459110"/>
            <a:ext cx="1104900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DFCF0"/>
        </a:solidFill>
      </p:bgPr>
    </p:bg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76" name="Google Shape;176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7" name="Google Shape;177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859160"/>
            <a:ext cx="11049000" cy="4427339"/>
          </a:xfrm>
          <a:prstGeom prst="rect">
            <a:avLst/>
          </a:prstGeom>
          <a:noFill/>
          <a:ln>
            <a:noFill/>
          </a:ln>
        </p:spPr>
      </p:pic>
      <p:sp>
        <p:nvSpPr>
          <p:cNvPr id="178" name="Google Shape;178;p19"/>
          <p:cNvSpPr txBox="1"/>
          <p:nvPr/>
        </p:nvSpPr>
        <p:spPr>
          <a:xfrm>
            <a:off x="571500" y="4572892"/>
            <a:ext cx="110490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500" u="none" cap="none" strike="noStrike">
                <a:solidFill>
                  <a:srgbClr val="475569"/>
                </a:solidFill>
                <a:latin typeface="Arimo"/>
                <a:ea typeface="Arimo"/>
                <a:cs typeface="Arimo"/>
                <a:sym typeface="Arimo"/>
              </a:rPr>
              <a:t>*Traditional costs include reagents, lab time, and animal models. ImmunoVerse costs reflect decentralized API compute usage.</a:t>
            </a:r>
            <a:endParaRPr/>
          </a:p>
        </p:txBody>
      </p:sp>
      <p:sp>
        <p:nvSpPr>
          <p:cNvPr id="179" name="Google Shape;179;p19"/>
          <p:cNvSpPr txBox="1"/>
          <p:nvPr/>
        </p:nvSpPr>
        <p:spPr>
          <a:xfrm>
            <a:off x="571500" y="887610"/>
            <a:ext cx="11601450" cy="4476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1E293B"/>
                </a:solidFill>
                <a:latin typeface="Arimo"/>
                <a:ea typeface="Arimo"/>
                <a:cs typeface="Arimo"/>
                <a:sym typeface="Arimo"/>
              </a:rPr>
              <a:t>The Economic Shift</a:t>
            </a:r>
            <a:endParaRPr/>
          </a:p>
        </p:txBody>
      </p:sp>
      <p:sp>
        <p:nvSpPr>
          <p:cNvPr id="180" name="Google Shape;180;p19"/>
          <p:cNvSpPr/>
          <p:nvPr/>
        </p:nvSpPr>
        <p:spPr>
          <a:xfrm>
            <a:off x="571500" y="1459110"/>
            <a:ext cx="1104900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DFCF0"/>
        </a:solidFill>
      </p:bgPr>
    </p:bg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85" name="Google Shape;185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86" name="Google Shape;186;p20"/>
          <p:cNvSpPr txBox="1"/>
          <p:nvPr/>
        </p:nvSpPr>
        <p:spPr>
          <a:xfrm>
            <a:off x="571500" y="1928812"/>
            <a:ext cx="5200650" cy="857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1E293B"/>
                </a:solidFill>
                <a:latin typeface="Arimo"/>
                <a:ea typeface="Arimo"/>
                <a:cs typeface="Arimo"/>
                <a:sym typeface="Arimo"/>
              </a:rPr>
              <a:t>The Mandatory "Engine Test"</a:t>
            </a:r>
            <a:endParaRPr/>
          </a:p>
        </p:txBody>
      </p:sp>
      <p:sp>
        <p:nvSpPr>
          <p:cNvPr id="187" name="Google Shape;187;p20"/>
          <p:cNvSpPr txBox="1"/>
          <p:nvPr/>
        </p:nvSpPr>
        <p:spPr>
          <a:xfrm>
            <a:off x="571500" y="2928937"/>
            <a:ext cx="49530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Arimo"/>
                <a:ea typeface="Arimo"/>
                <a:cs typeface="Arimo"/>
                <a:sym typeface="Arimo"/>
              </a:rPr>
              <a:t>You can't skip Stage 4. Even if the protein shape is perfect, introducing novel code alters the underlying Gene Regulatory Network (GRN).</a:t>
            </a:r>
            <a:endParaRPr/>
          </a:p>
        </p:txBody>
      </p:sp>
      <p:sp>
        <p:nvSpPr>
          <p:cNvPr id="188" name="Google Shape;188;p20"/>
          <p:cNvSpPr txBox="1"/>
          <p:nvPr/>
        </p:nvSpPr>
        <p:spPr>
          <a:xfrm>
            <a:off x="571500" y="3929062"/>
            <a:ext cx="49530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475569"/>
                </a:solidFill>
                <a:latin typeface="Arimo"/>
                <a:ea typeface="Arimo"/>
                <a:cs typeface="Arimo"/>
                <a:sym typeface="Arimo"/>
              </a:rPr>
              <a:t>Systems Biology:</a:t>
            </a:r>
            <a:r>
              <a:rPr b="0" i="0" lang="en-US" sz="1500" u="none" cap="none" strike="noStrike">
                <a:solidFill>
                  <a:srgbClr val="475569"/>
                </a:solidFill>
                <a:latin typeface="Arimo"/>
                <a:ea typeface="Arimo"/>
                <a:cs typeface="Arimo"/>
                <a:sym typeface="Arimo"/>
              </a:rPr>
              <a:t> We model how the therapy interacts with the whole cell, not just the single target. This is the difference between checking a part and testing the engine.</a:t>
            </a:r>
            <a:endParaRPr/>
          </a:p>
        </p:txBody>
      </p:sp>
      <p:pic>
        <p:nvPicPr>
          <p:cNvPr descr="image.png" id="189" name="Google Shape;189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096000" y="0"/>
            <a:ext cx="60960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DFCF0"/>
        </a:solidFill>
      </p:bgPr>
    </p:bg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94" name="Google Shape;194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5" name="Google Shape;195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524000" y="2405955"/>
            <a:ext cx="3333750" cy="33337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6" name="Google Shape;196;p2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533525" y="2415480"/>
            <a:ext cx="1133475" cy="171450"/>
          </a:xfrm>
          <a:prstGeom prst="rect">
            <a:avLst/>
          </a:prstGeom>
          <a:noFill/>
          <a:ln>
            <a:noFill/>
          </a:ln>
        </p:spPr>
      </p:pic>
      <p:sp>
        <p:nvSpPr>
          <p:cNvPr id="197" name="Google Shape;197;p21"/>
          <p:cNvSpPr txBox="1"/>
          <p:nvPr/>
        </p:nvSpPr>
        <p:spPr>
          <a:xfrm>
            <a:off x="6381750" y="2848867"/>
            <a:ext cx="5500687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1E293B"/>
                </a:solidFill>
                <a:latin typeface="Arimo"/>
                <a:ea typeface="Arimo"/>
                <a:cs typeface="Arimo"/>
                <a:sym typeface="Arimo"/>
              </a:rPr>
              <a:t>Addressing Bias</a:t>
            </a:r>
            <a:endParaRPr/>
          </a:p>
        </p:txBody>
      </p:sp>
      <p:sp>
        <p:nvSpPr>
          <p:cNvPr id="198" name="Google Shape;198;p21"/>
          <p:cNvSpPr txBox="1"/>
          <p:nvPr/>
        </p:nvSpPr>
        <p:spPr>
          <a:xfrm>
            <a:off x="6381750" y="3296542"/>
            <a:ext cx="5238750" cy="857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Arimo"/>
                <a:ea typeface="Arimo"/>
                <a:cs typeface="Arimo"/>
                <a:sym typeface="Arimo"/>
              </a:rPr>
              <a:t>Existing registries (like IEDB) have massive training bias toward European demographics. This is a life-and-death engineering flaw.</a:t>
            </a:r>
            <a:endParaRPr/>
          </a:p>
        </p:txBody>
      </p:sp>
      <p:sp>
        <p:nvSpPr>
          <p:cNvPr id="199" name="Google Shape;199;p21"/>
          <p:cNvSpPr txBox="1"/>
          <p:nvPr/>
        </p:nvSpPr>
        <p:spPr>
          <a:xfrm>
            <a:off x="6381750" y="4296667"/>
            <a:ext cx="5238750" cy="857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Arimo"/>
                <a:ea typeface="Arimo"/>
                <a:cs typeface="Arimo"/>
                <a:sym typeface="Arimo"/>
              </a:rPr>
              <a:t>Because ImmunoVerse is modular, we can plug in regional specialist agents as better global data sets become available—instantly improving equity across the stack.</a:t>
            </a:r>
            <a:endParaRPr/>
          </a:p>
        </p:txBody>
      </p:sp>
      <p:sp>
        <p:nvSpPr>
          <p:cNvPr id="200" name="Google Shape;200;p21"/>
          <p:cNvSpPr txBox="1"/>
          <p:nvPr/>
        </p:nvSpPr>
        <p:spPr>
          <a:xfrm>
            <a:off x="571500" y="887610"/>
            <a:ext cx="11601450" cy="4476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1E293B"/>
                </a:solidFill>
                <a:latin typeface="Arimo"/>
                <a:ea typeface="Arimo"/>
                <a:cs typeface="Arimo"/>
                <a:sym typeface="Arimo"/>
              </a:rPr>
              <a:t>Handling Data Realities</a:t>
            </a:r>
            <a:endParaRPr/>
          </a:p>
        </p:txBody>
      </p:sp>
      <p:sp>
        <p:nvSpPr>
          <p:cNvPr id="201" name="Google Shape;201;p21"/>
          <p:cNvSpPr/>
          <p:nvPr/>
        </p:nvSpPr>
        <p:spPr>
          <a:xfrm>
            <a:off x="571500" y="1459110"/>
            <a:ext cx="1104900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DFCF0"/>
        </a:solidFill>
      </p:bgPr>
    </p:bg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06" name="Google Shape;206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207" name="Google Shape;207;p22"/>
          <p:cNvGraphicFramePr/>
          <p:nvPr/>
        </p:nvGraphicFramePr>
        <p:xfrm>
          <a:off x="571500" y="2934592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{2D8958ED-2221-4083-9D36-7151D0F89237}</a:tableStyleId>
              </a:tblPr>
              <a:tblGrid>
                <a:gridCol w="2753925"/>
                <a:gridCol w="2737250"/>
                <a:gridCol w="5557825"/>
              </a:tblGrid>
              <a:tr h="4934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1E293B"/>
                          </a:solidFill>
                          <a:latin typeface="Azeret Mono"/>
                          <a:ea typeface="Azeret Mono"/>
                          <a:cs typeface="Azeret Mono"/>
                          <a:sym typeface="Azeret Mono"/>
                        </a:rPr>
                        <a:t>Component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1E293B"/>
                          </a:solidFill>
                          <a:latin typeface="Azeret Mono"/>
                          <a:ea typeface="Azeret Mono"/>
                          <a:cs typeface="Azeret Mono"/>
                          <a:sym typeface="Azeret Mono"/>
                        </a:rPr>
                        <a:t>Technology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1E293B"/>
                          </a:solidFill>
                          <a:latin typeface="Azeret Mono"/>
                          <a:ea typeface="Azeret Mono"/>
                          <a:cs typeface="Azeret Mono"/>
                          <a:sym typeface="Azeret Mono"/>
                        </a:rPr>
                        <a:t>Status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</a:tr>
              <a:tr h="4934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1E293B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Orchestrator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1E293B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Fetch.ai uAgents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1E293B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Operational (Agentverse)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934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1E293B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Protein Folding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1E293B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ESMFold Agent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1E293B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Live API Node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934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1E293B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Immune Registry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1E293B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IEDB Integration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1E293B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Functional Registry Query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934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1E293B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Cell Dynamics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1E293B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GenBio AI AIDO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1E293B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Architectural Mock / Integration Ready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208" name="Google Shape;208;p22"/>
          <p:cNvSpPr/>
          <p:nvPr/>
        </p:nvSpPr>
        <p:spPr>
          <a:xfrm>
            <a:off x="571500" y="3391792"/>
            <a:ext cx="2753915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22"/>
          <p:cNvSpPr/>
          <p:nvPr/>
        </p:nvSpPr>
        <p:spPr>
          <a:xfrm>
            <a:off x="3325415" y="3391792"/>
            <a:ext cx="2737246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22"/>
          <p:cNvSpPr/>
          <p:nvPr/>
        </p:nvSpPr>
        <p:spPr>
          <a:xfrm>
            <a:off x="6062662" y="3391792"/>
            <a:ext cx="5557837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22"/>
          <p:cNvSpPr/>
          <p:nvPr/>
        </p:nvSpPr>
        <p:spPr>
          <a:xfrm>
            <a:off x="571500" y="3901380"/>
            <a:ext cx="2753915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22"/>
          <p:cNvSpPr/>
          <p:nvPr/>
        </p:nvSpPr>
        <p:spPr>
          <a:xfrm>
            <a:off x="3325415" y="3901380"/>
            <a:ext cx="2737246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22"/>
          <p:cNvSpPr/>
          <p:nvPr/>
        </p:nvSpPr>
        <p:spPr>
          <a:xfrm>
            <a:off x="6062662" y="3901380"/>
            <a:ext cx="5557837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22"/>
          <p:cNvSpPr/>
          <p:nvPr/>
        </p:nvSpPr>
        <p:spPr>
          <a:xfrm>
            <a:off x="571500" y="4396680"/>
            <a:ext cx="2753915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22"/>
          <p:cNvSpPr/>
          <p:nvPr/>
        </p:nvSpPr>
        <p:spPr>
          <a:xfrm>
            <a:off x="3325415" y="4396680"/>
            <a:ext cx="2737246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22"/>
          <p:cNvSpPr/>
          <p:nvPr/>
        </p:nvSpPr>
        <p:spPr>
          <a:xfrm>
            <a:off x="6062662" y="4396680"/>
            <a:ext cx="5557837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22"/>
          <p:cNvSpPr/>
          <p:nvPr/>
        </p:nvSpPr>
        <p:spPr>
          <a:xfrm>
            <a:off x="571500" y="4891980"/>
            <a:ext cx="2753915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22"/>
          <p:cNvSpPr/>
          <p:nvPr/>
        </p:nvSpPr>
        <p:spPr>
          <a:xfrm>
            <a:off x="3325415" y="4891980"/>
            <a:ext cx="2737246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22"/>
          <p:cNvSpPr/>
          <p:nvPr/>
        </p:nvSpPr>
        <p:spPr>
          <a:xfrm>
            <a:off x="6062662" y="4891980"/>
            <a:ext cx="5557837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22"/>
          <p:cNvSpPr/>
          <p:nvPr/>
        </p:nvSpPr>
        <p:spPr>
          <a:xfrm>
            <a:off x="571500" y="5387280"/>
            <a:ext cx="2753915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22"/>
          <p:cNvSpPr/>
          <p:nvPr/>
        </p:nvSpPr>
        <p:spPr>
          <a:xfrm>
            <a:off x="3325415" y="5387280"/>
            <a:ext cx="2737246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22"/>
          <p:cNvSpPr/>
          <p:nvPr/>
        </p:nvSpPr>
        <p:spPr>
          <a:xfrm>
            <a:off x="6062662" y="5387280"/>
            <a:ext cx="5557837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22"/>
          <p:cNvSpPr txBox="1"/>
          <p:nvPr/>
        </p:nvSpPr>
        <p:spPr>
          <a:xfrm>
            <a:off x="571500" y="887610"/>
            <a:ext cx="11601450" cy="4476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1E293B"/>
                </a:solidFill>
                <a:latin typeface="Arimo"/>
                <a:ea typeface="Arimo"/>
                <a:cs typeface="Arimo"/>
                <a:sym typeface="Arimo"/>
              </a:rPr>
              <a:t>Project Readiness</a:t>
            </a:r>
            <a:endParaRPr/>
          </a:p>
        </p:txBody>
      </p:sp>
      <p:sp>
        <p:nvSpPr>
          <p:cNvPr id="224" name="Google Shape;224;p22"/>
          <p:cNvSpPr/>
          <p:nvPr/>
        </p:nvSpPr>
        <p:spPr>
          <a:xfrm>
            <a:off x="571500" y="1459110"/>
            <a:ext cx="1104900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DFCF0"/>
        </a:solidFill>
      </p:bgPr>
    </p:bg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29" name="Google Shape;229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0" name="Google Shape;230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43587" y="1719262"/>
            <a:ext cx="504825" cy="571500"/>
          </a:xfrm>
          <a:prstGeom prst="rect">
            <a:avLst/>
          </a:prstGeom>
          <a:noFill/>
          <a:ln>
            <a:noFill/>
          </a:ln>
        </p:spPr>
      </p:pic>
      <p:sp>
        <p:nvSpPr>
          <p:cNvPr id="231" name="Google Shape;231;p23"/>
          <p:cNvSpPr txBox="1"/>
          <p:nvPr/>
        </p:nvSpPr>
        <p:spPr>
          <a:xfrm>
            <a:off x="1060370" y="2576512"/>
            <a:ext cx="10071258" cy="8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000" u="none" cap="none" strike="noStrike">
                <a:solidFill>
                  <a:srgbClr val="1E293B"/>
                </a:solidFill>
                <a:latin typeface="Arimo"/>
                <a:ea typeface="Arimo"/>
                <a:cs typeface="Arimo"/>
                <a:sym typeface="Arimo"/>
              </a:rPr>
              <a:t>The Composable Primitive</a:t>
            </a:r>
            <a:endParaRPr/>
          </a:p>
        </p:txBody>
      </p:sp>
      <p:sp>
        <p:nvSpPr>
          <p:cNvPr id="232" name="Google Shape;232;p23"/>
          <p:cNvSpPr txBox="1"/>
          <p:nvPr/>
        </p:nvSpPr>
        <p:spPr>
          <a:xfrm>
            <a:off x="2286000" y="3414712"/>
            <a:ext cx="7620000" cy="742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50" u="none" cap="none" strike="noStrike">
                <a:solidFill>
                  <a:srgbClr val="475569"/>
                </a:solidFill>
                <a:latin typeface="Arimo"/>
                <a:ea typeface="Arimo"/>
                <a:cs typeface="Arimo"/>
                <a:sym typeface="Arimo"/>
              </a:rPr>
              <a:t>Moving safety from a late-stage corporate luxury to an early-stage, open network API.</a:t>
            </a:r>
            <a:endParaRPr/>
          </a:p>
        </p:txBody>
      </p:sp>
      <p:sp>
        <p:nvSpPr>
          <p:cNvPr id="233" name="Google Shape;233;p23"/>
          <p:cNvSpPr txBox="1"/>
          <p:nvPr/>
        </p:nvSpPr>
        <p:spPr>
          <a:xfrm>
            <a:off x="2667000" y="4681537"/>
            <a:ext cx="6858000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64748B"/>
                </a:solidFill>
                <a:latin typeface="Azeret Mono"/>
                <a:ea typeface="Azeret Mono"/>
                <a:cs typeface="Azeret Mono"/>
                <a:sym typeface="Azeret Mono"/>
              </a:rPr>
              <a:t>QUESTIONS? LET'S BUILD THE FUTURE OF THERAPY.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DFCF0"/>
        </a:solidFill>
      </p:bgPr>
    </p:bg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38" name="Google Shape;238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39" name="Google Shape;239;p24"/>
          <p:cNvSpPr/>
          <p:nvPr/>
        </p:nvSpPr>
        <p:spPr>
          <a:xfrm>
            <a:off x="571500" y="2748855"/>
            <a:ext cx="11049000" cy="9429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24"/>
          <p:cNvSpPr/>
          <p:nvPr/>
        </p:nvSpPr>
        <p:spPr>
          <a:xfrm>
            <a:off x="571500" y="3691830"/>
            <a:ext cx="11049000" cy="9429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p24"/>
          <p:cNvSpPr/>
          <p:nvPr/>
        </p:nvSpPr>
        <p:spPr>
          <a:xfrm>
            <a:off x="571500" y="3682305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p24"/>
          <p:cNvSpPr/>
          <p:nvPr/>
        </p:nvSpPr>
        <p:spPr>
          <a:xfrm>
            <a:off x="571500" y="3682305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" name="Google Shape;243;p24"/>
          <p:cNvSpPr/>
          <p:nvPr/>
        </p:nvSpPr>
        <p:spPr>
          <a:xfrm>
            <a:off x="571500" y="4625280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p24"/>
          <p:cNvSpPr/>
          <p:nvPr/>
        </p:nvSpPr>
        <p:spPr>
          <a:xfrm>
            <a:off x="571500" y="4625280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245" name="Google Shape;245;p2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977455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46" name="Google Shape;246;p24"/>
          <p:cNvSpPr txBox="1"/>
          <p:nvPr/>
        </p:nvSpPr>
        <p:spPr>
          <a:xfrm>
            <a:off x="1666875" y="2891730"/>
            <a:ext cx="9953625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475569"/>
                </a:solidFill>
                <a:latin typeface="Arimo"/>
                <a:ea typeface="Arimo"/>
                <a:cs typeface="Arimo"/>
                <a:sym typeface="Arimo"/>
              </a:rPr>
              <a:t>https://media.istockphoto.com/id/1309776504/photo/female-research-scientist-with-bioengineer-working-on-a-personal-computer-with-screen-showing.jpg?s=612x612&amp;w=0&amp;k=20&amp;c=FBI79EWdoWHailbTGvQWBBYOiOfx7owZLWuNnQxuDqo=</a:t>
            </a:r>
            <a:endParaRPr/>
          </a:p>
        </p:txBody>
      </p:sp>
      <p:sp>
        <p:nvSpPr>
          <p:cNvPr id="247" name="Google Shape;247;p24"/>
          <p:cNvSpPr txBox="1"/>
          <p:nvPr/>
        </p:nvSpPr>
        <p:spPr>
          <a:xfrm>
            <a:off x="1666875" y="3310830"/>
            <a:ext cx="9953625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Arimo"/>
                <a:ea typeface="Arimo"/>
                <a:cs typeface="Arimo"/>
                <a:sym typeface="Arimo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Arimo"/>
                <a:ea typeface="Arimo"/>
                <a:cs typeface="Arimo"/>
                <a:sym typeface="Arimo"/>
              </a:rPr>
              <a:t>www.istockphoto.com</a:t>
            </a:r>
            <a:endParaRPr/>
          </a:p>
        </p:txBody>
      </p:sp>
      <p:pic>
        <p:nvPicPr>
          <p:cNvPr descr="image.png" id="248" name="Google Shape;248;p2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3920430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49" name="Google Shape;249;p24"/>
          <p:cNvSpPr txBox="1"/>
          <p:nvPr/>
        </p:nvSpPr>
        <p:spPr>
          <a:xfrm>
            <a:off x="1666875" y="3834705"/>
            <a:ext cx="9953625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475569"/>
                </a:solidFill>
                <a:latin typeface="Arimo"/>
                <a:ea typeface="Arimo"/>
                <a:cs typeface="Arimo"/>
                <a:sym typeface="Arimo"/>
              </a:rPr>
              <a:t>https://static.vecteezy.com/system/resources/previews/057/274/608/large_2x/abstract-neuron-network-visualization-with-glowing-connections-in-electric-blue-hues-against-a-dark-background-representing-the-human-brain-free-photo.jpg</a:t>
            </a:r>
            <a:endParaRPr/>
          </a:p>
        </p:txBody>
      </p:sp>
      <p:sp>
        <p:nvSpPr>
          <p:cNvPr id="250" name="Google Shape;250;p24"/>
          <p:cNvSpPr txBox="1"/>
          <p:nvPr/>
        </p:nvSpPr>
        <p:spPr>
          <a:xfrm>
            <a:off x="1666875" y="4253805"/>
            <a:ext cx="9953625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Arimo"/>
                <a:ea typeface="Arimo"/>
                <a:cs typeface="Arimo"/>
                <a:sym typeface="Arimo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Arimo"/>
                <a:ea typeface="Arimo"/>
                <a:cs typeface="Arimo"/>
                <a:sym typeface="Arimo"/>
              </a:rPr>
              <a:t>www.vecteezy.com</a:t>
            </a:r>
            <a:endParaRPr/>
          </a:p>
        </p:txBody>
      </p:sp>
      <p:pic>
        <p:nvPicPr>
          <p:cNvPr descr="image.png" id="251" name="Google Shape;251;p2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4777680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52" name="Google Shape;252;p24"/>
          <p:cNvSpPr txBox="1"/>
          <p:nvPr/>
        </p:nvSpPr>
        <p:spPr>
          <a:xfrm>
            <a:off x="1666875" y="4784824"/>
            <a:ext cx="9953625" cy="1857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475569"/>
                </a:solidFill>
                <a:latin typeface="Arimo"/>
                <a:ea typeface="Arimo"/>
                <a:cs typeface="Arimo"/>
                <a:sym typeface="Arimo"/>
              </a:rPr>
              <a:t>https://upload.wikimedia.org/wikipedia/commons/thumb/2/2a/Human_faces.jpg/1280px-Human_faces.jpg</a:t>
            </a:r>
            <a:endParaRPr/>
          </a:p>
        </p:txBody>
      </p:sp>
      <p:sp>
        <p:nvSpPr>
          <p:cNvPr id="253" name="Google Shape;253;p24"/>
          <p:cNvSpPr txBox="1"/>
          <p:nvPr/>
        </p:nvSpPr>
        <p:spPr>
          <a:xfrm>
            <a:off x="1666875" y="5018186"/>
            <a:ext cx="9953625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Arimo"/>
                <a:ea typeface="Arimo"/>
                <a:cs typeface="Arimo"/>
                <a:sym typeface="Arimo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Arimo"/>
                <a:ea typeface="Arimo"/>
                <a:cs typeface="Arimo"/>
                <a:sym typeface="Arimo"/>
              </a:rPr>
              <a:t>en.wikipedia.org</a:t>
            </a:r>
            <a:endParaRPr/>
          </a:p>
        </p:txBody>
      </p:sp>
      <p:sp>
        <p:nvSpPr>
          <p:cNvPr id="254" name="Google Shape;254;p24"/>
          <p:cNvSpPr txBox="1"/>
          <p:nvPr/>
        </p:nvSpPr>
        <p:spPr>
          <a:xfrm>
            <a:off x="571500" y="887610"/>
            <a:ext cx="11601450" cy="4476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1E293B"/>
                </a:solidFill>
                <a:latin typeface="Arimo"/>
                <a:ea typeface="Arimo"/>
                <a:cs typeface="Arimo"/>
                <a:sym typeface="Arimo"/>
              </a:rPr>
              <a:t>Image Sources</a:t>
            </a:r>
            <a:endParaRPr/>
          </a:p>
        </p:txBody>
      </p:sp>
      <p:sp>
        <p:nvSpPr>
          <p:cNvPr id="255" name="Google Shape;255;p24"/>
          <p:cNvSpPr/>
          <p:nvPr/>
        </p:nvSpPr>
        <p:spPr>
          <a:xfrm>
            <a:off x="571500" y="1459110"/>
            <a:ext cx="1104900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